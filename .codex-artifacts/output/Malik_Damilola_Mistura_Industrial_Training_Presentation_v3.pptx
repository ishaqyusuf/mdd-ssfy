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d6b540a2d9a4d15" /><Relationship Type="http://schemas.openxmlformats.org/officeDocument/2006/relationships/extended-properties" Target="/docProps/app.xml" Id="R45e3a154fb934097" /><Relationship Type="http://schemas.openxmlformats.org/officeDocument/2006/relationships/officeDocument" Target="/ppt/presentation.xml" Id="R96e18ebaeccf4bc2" /></Relationships>
</file>

<file path=ppt/presentation.xml><?xml version="1.0" encoding="utf-8"?>
<p:presentation xmlns:p="http://schemas.openxmlformats.org/presentationml/2006/main">
  <p:sldMasterIdLst>
    <p:sldMasterId xmlns:r="http://schemas.openxmlformats.org/officeDocument/2006/relationships" id="2147483648" r:id="Rf4468f79e4c14975"/>
  </p:sldMasterIdLst>
  <p:notesMasterIdLst>
    <p:notesMasterId xmlns:r="http://schemas.openxmlformats.org/officeDocument/2006/relationships" r:id="R246999b079f94790"/>
  </p:notesMasterIdLst>
  <p:sldIdLst>
    <p:sldId xmlns:r="http://schemas.openxmlformats.org/officeDocument/2006/relationships" id="256" r:id="R9e1e241d9e924c51"/>
    <p:sldId xmlns:r="http://schemas.openxmlformats.org/officeDocument/2006/relationships" id="257" r:id="R940a522f092840eb"/>
    <p:sldId xmlns:r="http://schemas.openxmlformats.org/officeDocument/2006/relationships" id="258" r:id="R68b96896eff44fde"/>
    <p:sldId xmlns:r="http://schemas.openxmlformats.org/officeDocument/2006/relationships" id="259" r:id="Rebd26b8eb3454ac0"/>
    <p:sldId xmlns:r="http://schemas.openxmlformats.org/officeDocument/2006/relationships" id="260" r:id="R39f81cf5e24e4b24"/>
    <p:sldId xmlns:r="http://schemas.openxmlformats.org/officeDocument/2006/relationships" id="261" r:id="R421d144e1ed24485"/>
    <p:sldId xmlns:r="http://schemas.openxmlformats.org/officeDocument/2006/relationships" id="262" r:id="Rfdaf4b20a94448ed"/>
    <p:sldId xmlns:r="http://schemas.openxmlformats.org/officeDocument/2006/relationships" id="263" r:id="Rb94fbfea7f5e47c4"/>
    <p:sldId xmlns:r="http://schemas.openxmlformats.org/officeDocument/2006/relationships" id="264" r:id="R17d5a55a7432464f"/>
    <p:sldId xmlns:r="http://schemas.openxmlformats.org/officeDocument/2006/relationships" id="265" r:id="R6af1813ce02846db"/>
    <p:sldId xmlns:r="http://schemas.openxmlformats.org/officeDocument/2006/relationships" id="266" r:id="R5c61d065685d43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0f625060354481" /><Relationship Type="http://schemas.openxmlformats.org/officeDocument/2006/relationships/slideMaster" Target="/ppt/slideMasters/slideMaster1.xml" Id="Rf4468f79e4c14975" /><Relationship Type="http://schemas.openxmlformats.org/officeDocument/2006/relationships/notesMaster" Target="/ppt/notesMasters/notesMaster1.xml" Id="R246999b079f94790" /><Relationship Type="http://schemas.openxmlformats.org/officeDocument/2006/relationships/presProps" Target="/ppt/presProps.xml" Id="Ra80b794c74fe4005" /><Relationship Type="http://schemas.openxmlformats.org/officeDocument/2006/relationships/tableStyles" Target="/ppt/tableStyles.xml" Id="R65d319456dda4a05" /><Relationship Type="http://schemas.openxmlformats.org/officeDocument/2006/relationships/slide" Target="/ppt/slides/slide1.xml" Id="R9e1e241d9e924c51" /><Relationship Type="http://schemas.openxmlformats.org/officeDocument/2006/relationships/slide" Target="/ppt/slides/slide2.xml" Id="R940a522f092840eb" /><Relationship Type="http://schemas.openxmlformats.org/officeDocument/2006/relationships/slide" Target="/ppt/slides/slide3.xml" Id="R68b96896eff44fde" /><Relationship Type="http://schemas.openxmlformats.org/officeDocument/2006/relationships/slide" Target="/ppt/slides/slide4.xml" Id="Rebd26b8eb3454ac0" /><Relationship Type="http://schemas.openxmlformats.org/officeDocument/2006/relationships/slide" Target="/ppt/slides/slide5.xml" Id="R39f81cf5e24e4b24" /><Relationship Type="http://schemas.openxmlformats.org/officeDocument/2006/relationships/slide" Target="/ppt/slides/slide6.xml" Id="R421d144e1ed24485" /><Relationship Type="http://schemas.openxmlformats.org/officeDocument/2006/relationships/slide" Target="/ppt/slides/slide7.xml" Id="Rfdaf4b20a94448ed" /><Relationship Type="http://schemas.openxmlformats.org/officeDocument/2006/relationships/slide" Target="/ppt/slides/slide8.xml" Id="Rb94fbfea7f5e47c4" /><Relationship Type="http://schemas.openxmlformats.org/officeDocument/2006/relationships/slide" Target="/ppt/slides/slide9.xml" Id="R17d5a55a7432464f" /><Relationship Type="http://schemas.openxmlformats.org/officeDocument/2006/relationships/slide" Target="/ppt/slides/slide10.xml" Id="R6af1813ce02846db" /><Relationship Type="http://schemas.openxmlformats.org/officeDocument/2006/relationships/slide" Target="/ppt/slides/slide11.xml" Id="R5c61d065685d43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882ec68b3144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f86ab857794bce" /><Relationship Type="http://schemas.openxmlformats.org/officeDocument/2006/relationships/notesMaster" Target="/ppt/notesMasters/notesMaster1.xml" Id="R2e3dbb9efe164ad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4cc53ab1624e35" /><Relationship Type="http://schemas.openxmlformats.org/officeDocument/2006/relationships/notesMaster" Target="/ppt/notesMasters/notesMaster1.xml" Id="Rfec569923dc842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9b137a0fae149e4" /><Relationship Type="http://schemas.openxmlformats.org/officeDocument/2006/relationships/notesMaster" Target="/ppt/notesMasters/notesMaster1.xml" Id="R0add2c4749dd47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7fcb2a510e4539" /><Relationship Type="http://schemas.openxmlformats.org/officeDocument/2006/relationships/notesMaster" Target="/ppt/notesMasters/notesMaster1.xml" Id="R8d8a2c9d412242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b65a765780441f" /><Relationship Type="http://schemas.openxmlformats.org/officeDocument/2006/relationships/notesMaster" Target="/ppt/notesMasters/notesMaster1.xml" Id="R28c24b6b2cfd49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da34a232de4c25" /><Relationship Type="http://schemas.openxmlformats.org/officeDocument/2006/relationships/notesMaster" Target="/ppt/notesMasters/notesMaster1.xml" Id="R67f38239b9e84f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ac625c97b24636" /><Relationship Type="http://schemas.openxmlformats.org/officeDocument/2006/relationships/notesMaster" Target="/ppt/notesMasters/notesMaster1.xml" Id="R96412099f2c04b5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ad8af694804f09" /><Relationship Type="http://schemas.openxmlformats.org/officeDocument/2006/relationships/notesMaster" Target="/ppt/notesMasters/notesMaster1.xml" Id="R4e1fb67b298046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c574cb80ad41d4" /><Relationship Type="http://schemas.openxmlformats.org/officeDocument/2006/relationships/notesMaster" Target="/ppt/notesMasters/notesMaster1.xml" Id="R2be4567615cf4cd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b3fb0e164d4d88" /><Relationship Type="http://schemas.openxmlformats.org/officeDocument/2006/relationships/notesMaster" Target="/ppt/notesMasters/notesMaster1.xml" Id="Raf3e74183b2f40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d10a2551964aaf" /><Relationship Type="http://schemas.openxmlformats.org/officeDocument/2006/relationships/notesMaster" Target="/ppt/notesMasters/notesMaster1.xml" Id="R358f3de818734b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day. My name is Malik Damilola Mistura, a 400-level student of Estate Management at the University of Abuja. This presentation summarizes the Industrial Training I completed at Lanre Hassan and Company, Estate Surveyors and Valuers, from 30 March to 11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SIWES gave me supervised experience in a professional real estate environment and helped me connect classroom principles with actual assignments. My training covered property and facility management, estate agency, and valuation. Practical work often involves incomplete information, field conditions, client needs, and professional judgement.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Lanre Hassan and Company provides estate agency, property and facility management, valuation, and property development services. It is located at 21 Oga Road, Abuja, close to the Central Bank of Nigeria area. The firm supports property owners, occupiers, and other clients who need professional real estate advice.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spent twelve weeks in Property and Facility Management, four weeks in Estate Agency, and four weeks in Valuation. The sequence moved from continuing property responsibility to market-facing work and then to structured valuation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learned how professionals manage and inspect properties on behalf of clients. I observed maintenance and repair needs, recorded findings, followed up on assigned matters, and improved my time management. I can explain a simple example without revealing confidential property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agency rotation covered property sales, letting, rent collection, and market surveys. I learned to understand the client's instruction, obtain accurate property details, inspect the property, and compare relevant market evidence. Professional agency work requires accurate information and clear communication, not only advertising.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valuation process starts with collecting and understanding the client's brief. It continues through property inspection, market survey, method selection, analysis, and preparation of the valuation report. The valuation purpose, such as sale, mortgage, acquisition, or compensation, influences the scope of work. Inspection evidence, market evidence, and professional judgement must remain distinct.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strengthened my property inspection, market survey, valuation, and professional reporting knowledge. It also improved my communication, problem-solving, and time-management skills. These abilities support my future responsibility as an Estate Surveyor and Valuer.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encountered differences between classroom procedures and field practice, transportation costs, and difficulty accessing some property information. I responded by asking for guidance, planning my movements and budget, and relying only on authorized information. These challenges reinforced accuracy and confidentiality.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University should give clear pre-training guidance and continue supporting meaningful placements. Training firms should provide supervised practical exposure and regular feedback. Relevant institutions should consider transport support. Students should keep records, ask questions, and respect confidentiality.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gave me practical exposure to major areas of Estate Management and strengthened the link between theory and professional practice. Although I did not rotate through Property Development following the demise of ESV Lanre Hassan, the other rotations broadened my knowledge and confidence. Thank the audience and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59fc9e0fc245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34c6b5c26a4380" /><Relationship Type="http://schemas.openxmlformats.org/officeDocument/2006/relationships/slideLayout" Target="/ppt/slideLayouts/slideLayout1.xml" Id="R87f52a4f320e49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f52a4f320e49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1055fdedc54b8a" /><Relationship Type="http://schemas.openxmlformats.org/officeDocument/2006/relationships/notesSlide" Target="/ppt/notesSlides/notesSlide1.xml" Id="R4979fe7aaa1c48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696a551eb74bbb" /><Relationship Type="http://schemas.openxmlformats.org/officeDocument/2006/relationships/notesSlide" Target="/ppt/notesSlides/notesSlide2.xml" Id="R6d177196724f4d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012e6c9843406c" /><Relationship Type="http://schemas.openxmlformats.org/officeDocument/2006/relationships/notesSlide" Target="/ppt/notesSlides/notesSlide3.xml" Id="Rb0a948b54ae041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a3563cf85947ed" /><Relationship Type="http://schemas.openxmlformats.org/officeDocument/2006/relationships/chart" Target="/ppt/slides/charts/chart1.xml" Id="R3dc6aaaa57c74c78" /><Relationship Type="http://schemas.openxmlformats.org/officeDocument/2006/relationships/notesSlide" Target="/ppt/notesSlides/notesSlide4.xml" Id="R971fbb4401ae47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d892b49dc3b44de" /><Relationship Type="http://schemas.openxmlformats.org/officeDocument/2006/relationships/notesSlide" Target="/ppt/notesSlides/notesSlide5.xml" Id="R1280583d17654b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76fa918a8c43f5" /><Relationship Type="http://schemas.openxmlformats.org/officeDocument/2006/relationships/notesSlide" Target="/ppt/notesSlides/notesSlide6.xml" Id="Rca1c46b4e5c745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8c91b9384a343d0" /><Relationship Type="http://schemas.openxmlformats.org/officeDocument/2006/relationships/notesSlide" Target="/ppt/notesSlides/notesSlide7.xml" Id="R3877b9b204574e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1c7a056e424a2c" /><Relationship Type="http://schemas.openxmlformats.org/officeDocument/2006/relationships/notesSlide" Target="/ppt/notesSlides/notesSlide8.xml" Id="R14aeef99e706443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9180fb11eb41a3" /><Relationship Type="http://schemas.openxmlformats.org/officeDocument/2006/relationships/notesSlide" Target="/ppt/notesSlides/notesSlide9.xml" Id="R9a9c7d3ba05a4a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253a1a8bb5b40c3" /><Relationship Type="http://schemas.openxmlformats.org/officeDocument/2006/relationships/notesSlide" Target="/ppt/notesSlides/notesSlide10.xml" Id="R320591d4f1b242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d8312e4d1e54b98" /><Relationship Type="http://schemas.openxmlformats.org/officeDocument/2006/relationships/notesSlide" Target="/ppt/notesSlides/notesSlide11.xml" Id="R64f26ed1d6a748e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Weeks</c:v>
          </c:tx>
          <c:spPr>
            <a:solidFill xmlns:a="http://schemas.openxmlformats.org/drawingml/2006/main">
              <a:srgbClr val="317576"/>
            </a:solidFill>
          </c:spPr>
          <c:cat>
            <c:strRef>
              <c:f>'Chart Data'!$A$2:$A$4</c:f>
              <c:strCache>
                <c:ptCount val="3"/>
                <c:pt idx="0">
                  <c:v>Property and Facility Management</c:v>
                </c:pt>
                <c:pt idx="1">
                  <c:v>Estate Agency</c:v>
                </c:pt>
                <c:pt idx="2">
                  <c:v>Valuation</c:v>
                </c:pt>
              </c:strCache>
            </c:strRef>
          </c:cat>
          <c:val>
            <c:numRef>
              <c:f>'Chart Data'!$B$2:$B$4</c:f>
              <c:numCache>
                <c:formatCode>General</c:formatCode>
                <c:ptCount val="3"/>
                <c:pt idx="0">
                  <c:v>12</c:v>
                </c:pt>
                <c:pt idx="1">
                  <c:v>4</c:v>
                </c:pt>
                <c:pt idx="2">
                  <c:v>4</c:v>
                </c:pt>
              </c:numCache>
            </c:numRef>
          </c:val>
        </c:ser>
        <c:dLbls>
          <c:txPr>
            <a:bodyPr xmlns:a="http://schemas.openxmlformats.org/drawingml/2006/main" anchorCtr="1"/>
            <a:lstStyle xmlns:a="http://schemas.openxmlformats.org/drawingml/2006/main"/>
            <a:p xmlns:a="http://schemas.openxmlformats.org/drawingml/2006/main">
              <a:pPr>
                <a:defRPr sz="1350" b="1">
                  <a:solidFill>
                    <a:srgbClr val="17384E"/>
                  </a:solidFill>
                  <a:latin typeface="Aptos"/>
                  <a:ea typeface="Aptos"/>
                  <a:cs typeface="Apto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3616A"/>
                </a:solidFill>
                <a:latin typeface="Aptos"/>
                <a:ea typeface="Aptos"/>
                <a:cs typeface="Apto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8232B"/>
                </a:solidFill>
                <a:latin typeface="Aptos"/>
                <a:ea typeface="Aptos"/>
                <a:cs typeface="Apto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84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EAFB5A-20F8-4EBC-8B3D-43A309FE6078}"/>
              </a:ext>
            </a:extLst>
          </p:cNvPr>
          <p:cNvSpPr>
            <a:spLocks xmlns:a="http://schemas.openxmlformats.org/drawingml/2006/main" noGrp="1"/>
          </p:cNvSpPr>
          <p:nvPr/>
        </p:nvSpPr>
        <p:spPr>
          <a:xfrm xmlns:a="http://schemas.openxmlformats.org/drawingml/2006/main">
            <a:off x="876300" y="876300"/>
            <a:ext cx="762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C38A3B"/>
                </a:solidFill>
                <a:latin typeface="Aptos"/>
                <a:ea typeface="Aptos"/>
                <a:cs typeface="Aptos"/>
              </a:defRPr>
            </a:pPr>
            <a:r>
              <a:rPr sz="1350" b="1" i="0">
                <a:solidFill>
                  <a:srgbClr val="C38A3B"/>
                </a:solidFill>
                <a:latin typeface="Aptos"/>
                <a:ea typeface="Aptos"/>
                <a:cs typeface="Aptos"/>
              </a:rPr>
              <a:t>INDUSTRIAL TRAINING</a:t>
            </a:r>
          </a:p>
        </p:txBody>
      </p:sp>
      <p:sp>
        <p:nvSpPr>
          <p:cNvPr id="2" name="">
            <a:extLst xmlns:a="http://schemas.openxmlformats.org/drawingml/2006/main">
              <a:ext uri="{FF2B5EF4-FFF2-40B4-BE49-F238E27FC236}">
                <a16:creationId xmlns:a16="http://schemas.microsoft.com/office/drawing/2014/main" id="{0BEA2C46-FC06-4BBF-84A1-0D874EE37F41}"/>
              </a:ext>
            </a:extLst>
          </p:cNvPr>
          <p:cNvSpPr>
            <a:spLocks xmlns:a="http://schemas.openxmlformats.org/drawingml/2006/main" noGrp="1"/>
          </p:cNvSpPr>
          <p:nvPr/>
        </p:nvSpPr>
        <p:spPr>
          <a:xfrm xmlns:a="http://schemas.openxmlformats.org/drawingml/2006/main">
            <a:off x="876300" y="1666875"/>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125" b="1" i="0">
                <a:solidFill>
                  <a:srgbClr val="FFFFFF"/>
                </a:solidFill>
                <a:latin typeface="Aptos"/>
                <a:ea typeface="Aptos"/>
                <a:cs typeface="Aptos"/>
              </a:defRPr>
            </a:pPr>
            <a:r>
              <a:rPr sz="4125" b="1" i="0">
                <a:solidFill>
                  <a:srgbClr val="FFFFFF"/>
                </a:solidFill>
                <a:latin typeface="Aptos"/>
                <a:ea typeface="Aptos"/>
                <a:cs typeface="Aptos"/>
              </a:rPr>
              <a:t>Property practice in a professional setting</a:t>
            </a:r>
          </a:p>
        </p:txBody>
      </p:sp>
      <p:sp>
        <p:nvSpPr>
          <p:cNvPr id="3" name="">
            <a:extLst xmlns:a="http://schemas.openxmlformats.org/drawingml/2006/main">
              <a:ext uri="{FF2B5EF4-FFF2-40B4-BE49-F238E27FC236}">
                <a16:creationId xmlns:a16="http://schemas.microsoft.com/office/drawing/2014/main" id="{AA7D06BB-9183-4C4E-BBE6-1794F6EAFA4B}"/>
              </a:ext>
            </a:extLst>
          </p:cNvPr>
          <p:cNvSpPr>
            <a:spLocks xmlns:a="http://schemas.openxmlformats.org/drawingml/2006/main" noGrp="1"/>
          </p:cNvSpPr>
          <p:nvPr/>
        </p:nvSpPr>
        <p:spPr>
          <a:xfrm xmlns:a="http://schemas.openxmlformats.org/drawingml/2006/main">
            <a:off x="876300" y="40005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1" i="0">
                <a:solidFill>
                  <a:srgbClr val="FFFFFF"/>
                </a:solidFill>
                <a:latin typeface="Aptos"/>
                <a:ea typeface="Aptos"/>
                <a:cs typeface="Aptos"/>
              </a:defRPr>
            </a:pPr>
            <a:r>
              <a:rPr sz="2175" b="1" i="0">
                <a:solidFill>
                  <a:srgbClr val="FFFFFF"/>
                </a:solidFill>
                <a:latin typeface="Aptos"/>
                <a:ea typeface="Aptos"/>
                <a:cs typeface="Aptos"/>
              </a:rPr>
              <a:t>Malik Damilola Mistura</a:t>
            </a:r>
          </a:p>
        </p:txBody>
      </p:sp>
      <p:sp>
        <p:nvSpPr>
          <p:cNvPr id="4" name="">
            <a:extLst xmlns:a="http://schemas.openxmlformats.org/drawingml/2006/main">
              <a:ext uri="{FF2B5EF4-FFF2-40B4-BE49-F238E27FC236}">
                <a16:creationId xmlns:a16="http://schemas.microsoft.com/office/drawing/2014/main" id="{259E55DA-3A2A-4241-9B91-EA29879DEF5A}"/>
              </a:ext>
            </a:extLst>
          </p:cNvPr>
          <p:cNvSpPr>
            <a:spLocks xmlns:a="http://schemas.openxmlformats.org/drawingml/2006/main" noGrp="1"/>
          </p:cNvSpPr>
          <p:nvPr/>
        </p:nvSpPr>
        <p:spPr>
          <a:xfrm xmlns:a="http://schemas.openxmlformats.org/drawingml/2006/main">
            <a:off x="876300" y="4591050"/>
            <a:ext cx="666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i="0">
                <a:solidFill>
                  <a:srgbClr val="E5ECEB"/>
                </a:solidFill>
                <a:latin typeface="Aptos"/>
                <a:ea typeface="Aptos"/>
                <a:cs typeface="Aptos"/>
              </a:defRPr>
            </a:pPr>
            <a:r>
              <a:rPr sz="1650" b="0" i="0">
                <a:solidFill>
                  <a:srgbClr val="E5ECEB"/>
                </a:solidFill>
                <a:latin typeface="Aptos"/>
                <a:ea typeface="Aptos"/>
                <a:cs typeface="Aptos"/>
              </a:rPr>
              <a:t>400 Level Estate Management</a:t>
            </a:r>
          </a:p>
          <a:p xmlns:a="http://schemas.openxmlformats.org/drawingml/2006/main">
            <a:pPr algn="l">
              <a:defRPr sz="1650" b="0" i="0">
                <a:solidFill>
                  <a:srgbClr val="E5ECEB"/>
                </a:solidFill>
                <a:latin typeface="Aptos"/>
                <a:ea typeface="Aptos"/>
                <a:cs typeface="Aptos"/>
              </a:defRPr>
            </a:pPr>
            <a:r>
              <a:rPr sz="1650" b="0" i="0">
                <a:solidFill>
                  <a:srgbClr val="E5ECEB"/>
                </a:solidFill>
                <a:latin typeface="Aptos"/>
                <a:ea typeface="Aptos"/>
                <a:cs typeface="Aptos"/>
              </a:rPr>
              <a:t>University of Abuja</a:t>
            </a:r>
          </a:p>
        </p:txBody>
      </p:sp>
      <p:sp>
        <p:nvSpPr>
          <p:cNvPr id="5" name="">
            <a:extLst xmlns:a="http://schemas.openxmlformats.org/drawingml/2006/main">
              <a:ext uri="{FF2B5EF4-FFF2-40B4-BE49-F238E27FC236}">
                <a16:creationId xmlns:a16="http://schemas.microsoft.com/office/drawing/2014/main" id="{66DC9E72-9C07-42F4-AA62-D42ECCF57AB7}"/>
              </a:ext>
            </a:extLst>
          </p:cNvPr>
          <p:cNvSpPr>
            <a:spLocks xmlns:a="http://schemas.openxmlformats.org/drawingml/2006/main" noGrp="1"/>
          </p:cNvSpPr>
          <p:nvPr/>
        </p:nvSpPr>
        <p:spPr>
          <a:xfrm xmlns:a="http://schemas.openxmlformats.org/drawingml/2006/main">
            <a:off x="876300" y="5905500"/>
            <a:ext cx="990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C38A3B"/>
                </a:solidFill>
                <a:latin typeface="Aptos"/>
                <a:ea typeface="Aptos"/>
                <a:cs typeface="Aptos"/>
              </a:defRPr>
            </a:pPr>
            <a:r>
              <a:rPr sz="1350" b="0" i="0">
                <a:solidFill>
                  <a:srgbClr val="C38A3B"/>
                </a:solidFill>
                <a:latin typeface="Aptos"/>
                <a:ea typeface="Aptos"/>
                <a:cs typeface="Aptos"/>
              </a:rPr>
              <a:t>Lanre Hassan and Company   30 March to 11 September 2026</a:t>
            </a:r>
          </a:p>
        </p:txBody>
      </p:sp>
    </p:spTree>
    <p:extLst>
      <p:ext uri="{BB962C8B-B14F-4D97-AF65-F5344CB8AC3E}">
        <p14:creationId xmlns:p14="http://schemas.microsoft.com/office/powerpoint/2010/main" val="1939284516"/>
      </p:ext>
    </p:extLst>
  </p:cSld>
</p:sld>
</file>

<file path=ppt/slides/slide2.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7F780C6-085D-44AA-B32A-3613761AAFE8}"/>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Purpose and scope of SIWES</a:t>
            </a:r>
          </a:p>
        </p:txBody>
      </p:sp>
      <p:sp>
        <p:nvSpPr>
          <p:cNvPr id="2" name="">
            <a:extLst xmlns:a="http://schemas.openxmlformats.org/drawingml/2006/main">
              <a:ext uri="{FF2B5EF4-FFF2-40B4-BE49-F238E27FC236}">
                <a16:creationId xmlns:a16="http://schemas.microsoft.com/office/drawing/2014/main" id="{26FE04B0-E84A-43F3-8411-349B55019582}"/>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B3CE783D-68FE-42E7-B3C9-8DBC450DEF49}"/>
              </a:ext>
            </a:extLst>
          </p:cNvPr>
          <p:cNvSpPr>
            <a:spLocks xmlns:a="http://schemas.openxmlformats.org/drawingml/2006/main" noGrp="1"/>
          </p:cNvSpPr>
          <p:nvPr/>
        </p:nvSpPr>
        <p:spPr>
          <a:xfrm xmlns:a="http://schemas.openxmlformats.org/drawingml/2006/main">
            <a:off x="685800" y="14287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8232B"/>
                </a:solidFill>
                <a:latin typeface="Aptos"/>
                <a:ea typeface="Aptos"/>
                <a:cs typeface="Aptos"/>
              </a:defRPr>
            </a:pPr>
            <a:r>
              <a:rPr sz="2850" b="1" i="0">
                <a:solidFill>
                  <a:srgbClr val="18232B"/>
                </a:solidFill>
                <a:latin typeface="Aptos"/>
                <a:ea typeface="Aptos"/>
                <a:cs typeface="Aptos"/>
              </a:rPr>
              <a:t>SIWES connected classroom principles with the judgement required in real property work.</a:t>
            </a:r>
          </a:p>
        </p:txBody>
      </p:sp>
      <p:sp>
        <p:nvSpPr>
          <p:cNvPr id="4" name="">
            <a:extLst xmlns:a="http://schemas.openxmlformats.org/drawingml/2006/main">
              <a:ext uri="{FF2B5EF4-FFF2-40B4-BE49-F238E27FC236}">
                <a16:creationId xmlns:a16="http://schemas.microsoft.com/office/drawing/2014/main" id="{30A1FCEC-3879-4766-890D-281D20BAD24F}"/>
              </a:ext>
            </a:extLst>
          </p:cNvPr>
          <p:cNvSpPr>
            <a:spLocks xmlns:a="http://schemas.openxmlformats.org/drawingml/2006/main" noGrp="1"/>
          </p:cNvSpPr>
          <p:nvPr/>
        </p:nvSpPr>
        <p:spPr>
          <a:xfrm xmlns:a="http://schemas.openxmlformats.org/drawingml/2006/main">
            <a:off x="762000" y="32385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1CBB833E-416F-41AB-82DB-BCF4D32FB649}"/>
              </a:ext>
            </a:extLst>
          </p:cNvPr>
          <p:cNvSpPr>
            <a:spLocks xmlns:a="http://schemas.openxmlformats.org/drawingml/2006/main" noGrp="1"/>
          </p:cNvSpPr>
          <p:nvPr/>
        </p:nvSpPr>
        <p:spPr>
          <a:xfrm xmlns:a="http://schemas.openxmlformats.org/drawingml/2006/main">
            <a:off x="1619250" y="32194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7384E"/>
                </a:solidFill>
                <a:latin typeface="Aptos"/>
                <a:ea typeface="Aptos"/>
                <a:cs typeface="Aptos"/>
              </a:defRPr>
            </a:pPr>
            <a:r>
              <a:rPr sz="1875" b="1" i="0">
                <a:solidFill>
                  <a:srgbClr val="17384E"/>
                </a:solidFill>
                <a:latin typeface="Aptos"/>
                <a:ea typeface="Aptos"/>
                <a:cs typeface="Aptos"/>
              </a:rPr>
              <a:t>Supervised experience</a:t>
            </a:r>
          </a:p>
        </p:txBody>
      </p:sp>
      <p:sp>
        <p:nvSpPr>
          <p:cNvPr id="6" name="">
            <a:extLst xmlns:a="http://schemas.openxmlformats.org/drawingml/2006/main">
              <a:ext uri="{FF2B5EF4-FFF2-40B4-BE49-F238E27FC236}">
                <a16:creationId xmlns:a16="http://schemas.microsoft.com/office/drawing/2014/main" id="{0782BC76-50C2-46B5-AF2E-7F46734FC911}"/>
              </a:ext>
            </a:extLst>
          </p:cNvPr>
          <p:cNvSpPr>
            <a:spLocks xmlns:a="http://schemas.openxmlformats.org/drawingml/2006/main" noGrp="1"/>
          </p:cNvSpPr>
          <p:nvPr/>
        </p:nvSpPr>
        <p:spPr>
          <a:xfrm xmlns:a="http://schemas.openxmlformats.org/drawingml/2006/main">
            <a:off x="5238750" y="32385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16A"/>
                </a:solidFill>
                <a:latin typeface="Aptos"/>
                <a:ea typeface="Aptos"/>
                <a:cs typeface="Aptos"/>
              </a:defRPr>
            </a:pPr>
            <a:r>
              <a:rPr sz="1575" b="0" i="0">
                <a:solidFill>
                  <a:srgbClr val="53616A"/>
                </a:solidFill>
                <a:latin typeface="Aptos"/>
                <a:ea typeface="Aptos"/>
                <a:cs typeface="Aptos"/>
              </a:rPr>
              <a:t>Learning within an active real estate firm</a:t>
            </a:r>
          </a:p>
        </p:txBody>
      </p:sp>
      <p:sp>
        <p:nvSpPr>
          <p:cNvPr id="7" name="">
            <a:extLst xmlns:a="http://schemas.openxmlformats.org/drawingml/2006/main">
              <a:ext uri="{FF2B5EF4-FFF2-40B4-BE49-F238E27FC236}">
                <a16:creationId xmlns:a16="http://schemas.microsoft.com/office/drawing/2014/main" id="{EA026C11-07E3-4500-BC03-8C4E9B70C939}"/>
              </a:ext>
            </a:extLst>
          </p:cNvPr>
          <p:cNvSpPr>
            <a:spLocks xmlns:a="http://schemas.openxmlformats.org/drawingml/2006/main" noGrp="1"/>
          </p:cNvSpPr>
          <p:nvPr/>
        </p:nvSpPr>
        <p:spPr>
          <a:xfrm xmlns:a="http://schemas.openxmlformats.org/drawingml/2006/main">
            <a:off x="762000" y="40957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78DCF634-53CF-4CEA-B288-F5333BBC6950}"/>
              </a:ext>
            </a:extLst>
          </p:cNvPr>
          <p:cNvSpPr>
            <a:spLocks xmlns:a="http://schemas.openxmlformats.org/drawingml/2006/main" noGrp="1"/>
          </p:cNvSpPr>
          <p:nvPr/>
        </p:nvSpPr>
        <p:spPr>
          <a:xfrm xmlns:a="http://schemas.openxmlformats.org/drawingml/2006/main">
            <a:off x="1619250" y="407670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7384E"/>
                </a:solidFill>
                <a:latin typeface="Aptos"/>
                <a:ea typeface="Aptos"/>
                <a:cs typeface="Aptos"/>
              </a:defRPr>
            </a:pPr>
            <a:r>
              <a:rPr sz="1875" b="1" i="0">
                <a:solidFill>
                  <a:srgbClr val="17384E"/>
                </a:solidFill>
                <a:latin typeface="Aptos"/>
                <a:ea typeface="Aptos"/>
                <a:cs typeface="Aptos"/>
              </a:rPr>
              <a:t>Professional exposure</a:t>
            </a:r>
          </a:p>
        </p:txBody>
      </p:sp>
      <p:sp>
        <p:nvSpPr>
          <p:cNvPr id="9" name="">
            <a:extLst xmlns:a="http://schemas.openxmlformats.org/drawingml/2006/main">
              <a:ext uri="{FF2B5EF4-FFF2-40B4-BE49-F238E27FC236}">
                <a16:creationId xmlns:a16="http://schemas.microsoft.com/office/drawing/2014/main" id="{2F98A0AE-802A-4084-BB2F-B7B3A755EEBE}"/>
              </a:ext>
            </a:extLst>
          </p:cNvPr>
          <p:cNvSpPr>
            <a:spLocks xmlns:a="http://schemas.openxmlformats.org/drawingml/2006/main" noGrp="1"/>
          </p:cNvSpPr>
          <p:nvPr/>
        </p:nvSpPr>
        <p:spPr>
          <a:xfrm xmlns:a="http://schemas.openxmlformats.org/drawingml/2006/main">
            <a:off x="5238750" y="409575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16A"/>
                </a:solidFill>
                <a:latin typeface="Aptos"/>
                <a:ea typeface="Aptos"/>
                <a:cs typeface="Aptos"/>
              </a:defRPr>
            </a:pPr>
            <a:r>
              <a:rPr sz="1575" b="0" i="0">
                <a:solidFill>
                  <a:srgbClr val="53616A"/>
                </a:solidFill>
                <a:latin typeface="Aptos"/>
                <a:ea typeface="Aptos"/>
                <a:cs typeface="Aptos"/>
              </a:rPr>
              <a:t>Property management, agency and valuation</a:t>
            </a:r>
          </a:p>
        </p:txBody>
      </p:sp>
      <p:sp>
        <p:nvSpPr>
          <p:cNvPr id="10" name="">
            <a:extLst xmlns:a="http://schemas.openxmlformats.org/drawingml/2006/main">
              <a:ext uri="{FF2B5EF4-FFF2-40B4-BE49-F238E27FC236}">
                <a16:creationId xmlns:a16="http://schemas.microsoft.com/office/drawing/2014/main" id="{579C1C1B-492B-45FA-9DF4-B9A73F2FC10A}"/>
              </a:ext>
            </a:extLst>
          </p:cNvPr>
          <p:cNvSpPr>
            <a:spLocks xmlns:a="http://schemas.openxmlformats.org/drawingml/2006/main" noGrp="1"/>
          </p:cNvSpPr>
          <p:nvPr/>
        </p:nvSpPr>
        <p:spPr>
          <a:xfrm xmlns:a="http://schemas.openxmlformats.org/drawingml/2006/main">
            <a:off x="762000" y="49530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239A698D-A3AE-4B84-94FB-D4C09920881E}"/>
              </a:ext>
            </a:extLst>
          </p:cNvPr>
          <p:cNvSpPr>
            <a:spLocks xmlns:a="http://schemas.openxmlformats.org/drawingml/2006/main" noGrp="1"/>
          </p:cNvSpPr>
          <p:nvPr/>
        </p:nvSpPr>
        <p:spPr>
          <a:xfrm xmlns:a="http://schemas.openxmlformats.org/drawingml/2006/main">
            <a:off x="1619250" y="49339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17384E"/>
                </a:solidFill>
                <a:latin typeface="Aptos"/>
                <a:ea typeface="Aptos"/>
                <a:cs typeface="Aptos"/>
              </a:defRPr>
            </a:pPr>
            <a:r>
              <a:rPr sz="1875" b="1" i="0">
                <a:solidFill>
                  <a:srgbClr val="17384E"/>
                </a:solidFill>
                <a:latin typeface="Aptos"/>
                <a:ea typeface="Aptos"/>
                <a:cs typeface="Aptos"/>
              </a:rPr>
              <a:t>Practical judgement</a:t>
            </a:r>
          </a:p>
        </p:txBody>
      </p:sp>
      <p:sp>
        <p:nvSpPr>
          <p:cNvPr id="12" name="">
            <a:extLst xmlns:a="http://schemas.openxmlformats.org/drawingml/2006/main">
              <a:ext uri="{FF2B5EF4-FFF2-40B4-BE49-F238E27FC236}">
                <a16:creationId xmlns:a16="http://schemas.microsoft.com/office/drawing/2014/main" id="{15BFB274-FDAD-48B7-A67F-EF14CF02680D}"/>
              </a:ext>
            </a:extLst>
          </p:cNvPr>
          <p:cNvSpPr>
            <a:spLocks xmlns:a="http://schemas.openxmlformats.org/drawingml/2006/main" noGrp="1"/>
          </p:cNvSpPr>
          <p:nvPr/>
        </p:nvSpPr>
        <p:spPr>
          <a:xfrm xmlns:a="http://schemas.openxmlformats.org/drawingml/2006/main">
            <a:off x="5238750" y="4953000"/>
            <a:ext cx="609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i="0">
                <a:solidFill>
                  <a:srgbClr val="53616A"/>
                </a:solidFill>
                <a:latin typeface="Aptos"/>
                <a:ea typeface="Aptos"/>
                <a:cs typeface="Aptos"/>
              </a:defRPr>
            </a:pPr>
            <a:r>
              <a:rPr sz="1575" b="0" i="0">
                <a:solidFill>
                  <a:srgbClr val="53616A"/>
                </a:solidFill>
                <a:latin typeface="Aptos"/>
                <a:ea typeface="Aptos"/>
                <a:cs typeface="Aptos"/>
              </a:rPr>
              <a:t>Working with field conditions and incomplete information</a:t>
            </a:r>
          </a:p>
        </p:txBody>
      </p:sp>
      <p:sp>
        <p:nvSpPr>
          <p:cNvPr id="13" name="">
            <a:extLst xmlns:a="http://schemas.openxmlformats.org/drawingml/2006/main">
              <a:ext uri="{FF2B5EF4-FFF2-40B4-BE49-F238E27FC236}">
                <a16:creationId xmlns:a16="http://schemas.microsoft.com/office/drawing/2014/main" id="{F081498A-86A7-44B8-84EE-54B70387EF4C}"/>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4024325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9BC9B26-DE4A-4C6D-AA84-2F2E7F9AAAE9}"/>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Lanre Hassan and Company</a:t>
            </a:r>
          </a:p>
        </p:txBody>
      </p:sp>
      <p:sp>
        <p:nvSpPr>
          <p:cNvPr id="2" name="">
            <a:extLst xmlns:a="http://schemas.openxmlformats.org/drawingml/2006/main">
              <a:ext uri="{FF2B5EF4-FFF2-40B4-BE49-F238E27FC236}">
                <a16:creationId xmlns:a16="http://schemas.microsoft.com/office/drawing/2014/main" id="{CD01961B-833B-4C40-AB47-E7FFDFD48894}"/>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0E37A0FF-ABF4-42F1-A1E4-A054F1085D1F}"/>
              </a:ext>
            </a:extLst>
          </p:cNvPr>
          <p:cNvSpPr>
            <a:spLocks xmlns:a="http://schemas.openxmlformats.org/drawingml/2006/main" noGrp="1"/>
          </p:cNvSpPr>
          <p:nvPr/>
        </p:nvSpPr>
        <p:spPr>
          <a:xfrm xmlns:a="http://schemas.openxmlformats.org/drawingml/2006/main">
            <a:off x="685800" y="1381125"/>
            <a:ext cx="857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317576"/>
                </a:solidFill>
                <a:latin typeface="Aptos"/>
                <a:ea typeface="Aptos"/>
                <a:cs typeface="Aptos"/>
              </a:defRPr>
            </a:pPr>
            <a:r>
              <a:rPr sz="2100" b="1" i="0">
                <a:solidFill>
                  <a:srgbClr val="317576"/>
                </a:solidFill>
                <a:latin typeface="Aptos"/>
                <a:ea typeface="Aptos"/>
                <a:cs typeface="Aptos"/>
              </a:rPr>
              <a:t>Estate Surveyors and Valuers</a:t>
            </a:r>
          </a:p>
        </p:txBody>
      </p:sp>
      <p:sp>
        <p:nvSpPr>
          <p:cNvPr id="4" name="">
            <a:extLst xmlns:a="http://schemas.openxmlformats.org/drawingml/2006/main">
              <a:ext uri="{FF2B5EF4-FFF2-40B4-BE49-F238E27FC236}">
                <a16:creationId xmlns:a16="http://schemas.microsoft.com/office/drawing/2014/main" id="{5AAA55D3-0523-46F1-BE88-465BCBB049BB}"/>
              </a:ext>
            </a:extLst>
          </p:cNvPr>
          <p:cNvSpPr>
            <a:spLocks xmlns:a="http://schemas.openxmlformats.org/drawingml/2006/main" noGrp="1"/>
          </p:cNvSpPr>
          <p:nvPr/>
        </p:nvSpPr>
        <p:spPr>
          <a:xfrm xmlns:a="http://schemas.openxmlformats.org/drawingml/2006/main">
            <a:off x="685800" y="2238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Estate agency</a:t>
            </a:r>
          </a:p>
        </p:txBody>
      </p:sp>
      <p:sp>
        <p:nvSpPr>
          <p:cNvPr id="5" name="">
            <a:extLst xmlns:a="http://schemas.openxmlformats.org/drawingml/2006/main">
              <a:ext uri="{FF2B5EF4-FFF2-40B4-BE49-F238E27FC236}">
                <a16:creationId xmlns:a16="http://schemas.microsoft.com/office/drawing/2014/main" id="{463D38BD-BA46-4617-9A51-8B2A94017B46}"/>
              </a:ext>
            </a:extLst>
          </p:cNvPr>
          <p:cNvSpPr>
            <a:spLocks xmlns:a="http://schemas.openxmlformats.org/drawingml/2006/main" noGrp="1"/>
          </p:cNvSpPr>
          <p:nvPr/>
        </p:nvSpPr>
        <p:spPr>
          <a:xfrm xmlns:a="http://schemas.openxmlformats.org/drawingml/2006/main">
            <a:off x="685800" y="27146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Sale, letting, acquisition and market advice</a:t>
            </a:r>
          </a:p>
        </p:txBody>
      </p:sp>
      <p:sp>
        <p:nvSpPr>
          <p:cNvPr id="6" name="">
            <a:extLst xmlns:a="http://schemas.openxmlformats.org/drawingml/2006/main">
              <a:ext uri="{FF2B5EF4-FFF2-40B4-BE49-F238E27FC236}">
                <a16:creationId xmlns:a16="http://schemas.microsoft.com/office/drawing/2014/main" id="{6A0D5DA6-1313-47EC-8EC1-53B0422D9A31}"/>
              </a:ext>
            </a:extLst>
          </p:cNvPr>
          <p:cNvSpPr>
            <a:spLocks xmlns:a="http://schemas.openxmlformats.org/drawingml/2006/main" noGrp="1"/>
          </p:cNvSpPr>
          <p:nvPr/>
        </p:nvSpPr>
        <p:spPr>
          <a:xfrm xmlns:a="http://schemas.openxmlformats.org/drawingml/2006/main">
            <a:off x="6210300" y="2238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Property and facility management</a:t>
            </a:r>
          </a:p>
        </p:txBody>
      </p:sp>
      <p:sp>
        <p:nvSpPr>
          <p:cNvPr id="7" name="">
            <a:extLst xmlns:a="http://schemas.openxmlformats.org/drawingml/2006/main">
              <a:ext uri="{FF2B5EF4-FFF2-40B4-BE49-F238E27FC236}">
                <a16:creationId xmlns:a16="http://schemas.microsoft.com/office/drawing/2014/main" id="{1DA5CECE-03B8-4DF9-9EA9-FB5090086F76}"/>
              </a:ext>
            </a:extLst>
          </p:cNvPr>
          <p:cNvSpPr>
            <a:spLocks xmlns:a="http://schemas.openxmlformats.org/drawingml/2006/main" noGrp="1"/>
          </p:cNvSpPr>
          <p:nvPr/>
        </p:nvSpPr>
        <p:spPr>
          <a:xfrm xmlns:a="http://schemas.openxmlformats.org/drawingml/2006/main">
            <a:off x="6210300" y="27146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Administration, inspection, maintenance and rent matters</a:t>
            </a:r>
          </a:p>
        </p:txBody>
      </p:sp>
      <p:sp>
        <p:nvSpPr>
          <p:cNvPr id="8" name="">
            <a:extLst xmlns:a="http://schemas.openxmlformats.org/drawingml/2006/main">
              <a:ext uri="{FF2B5EF4-FFF2-40B4-BE49-F238E27FC236}">
                <a16:creationId xmlns:a16="http://schemas.microsoft.com/office/drawing/2014/main" id="{6414E4F2-336B-4EC7-BFD2-9D10D744F226}"/>
              </a:ext>
            </a:extLst>
          </p:cNvPr>
          <p:cNvSpPr>
            <a:spLocks xmlns:a="http://schemas.openxmlformats.org/drawingml/2006/main" noGrp="1"/>
          </p:cNvSpPr>
          <p:nvPr/>
        </p:nvSpPr>
        <p:spPr>
          <a:xfrm xmlns:a="http://schemas.openxmlformats.org/drawingml/2006/main">
            <a:off x="685800" y="3619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Property valuation</a:t>
            </a:r>
          </a:p>
        </p:txBody>
      </p:sp>
      <p:sp>
        <p:nvSpPr>
          <p:cNvPr id="9" name="">
            <a:extLst xmlns:a="http://schemas.openxmlformats.org/drawingml/2006/main">
              <a:ext uri="{FF2B5EF4-FFF2-40B4-BE49-F238E27FC236}">
                <a16:creationId xmlns:a16="http://schemas.microsoft.com/office/drawing/2014/main" id="{623C39F8-9F5A-49EA-8E97-76BA79140DDA}"/>
              </a:ext>
            </a:extLst>
          </p:cNvPr>
          <p:cNvSpPr>
            <a:spLocks xmlns:a="http://schemas.openxmlformats.org/drawingml/2006/main" noGrp="1"/>
          </p:cNvSpPr>
          <p:nvPr/>
        </p:nvSpPr>
        <p:spPr>
          <a:xfrm xmlns:a="http://schemas.openxmlformats.org/drawingml/2006/main">
            <a:off x="685800" y="4095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Professional opinions of value for defined purposes</a:t>
            </a:r>
          </a:p>
        </p:txBody>
      </p:sp>
      <p:sp>
        <p:nvSpPr>
          <p:cNvPr id="10" name="">
            <a:extLst xmlns:a="http://schemas.openxmlformats.org/drawingml/2006/main">
              <a:ext uri="{FF2B5EF4-FFF2-40B4-BE49-F238E27FC236}">
                <a16:creationId xmlns:a16="http://schemas.microsoft.com/office/drawing/2014/main" id="{12AA12C8-B4DE-4807-BACB-E33EF910852B}"/>
              </a:ext>
            </a:extLst>
          </p:cNvPr>
          <p:cNvSpPr>
            <a:spLocks xmlns:a="http://schemas.openxmlformats.org/drawingml/2006/main" noGrp="1"/>
          </p:cNvSpPr>
          <p:nvPr/>
        </p:nvSpPr>
        <p:spPr>
          <a:xfrm xmlns:a="http://schemas.openxmlformats.org/drawingml/2006/main">
            <a:off x="6210300" y="36195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17384E"/>
                </a:solidFill>
                <a:latin typeface="Aptos"/>
                <a:ea typeface="Aptos"/>
                <a:cs typeface="Aptos"/>
              </a:defRPr>
            </a:pPr>
            <a:r>
              <a:rPr sz="1950" b="1" i="0">
                <a:solidFill>
                  <a:srgbClr val="17384E"/>
                </a:solidFill>
                <a:latin typeface="Aptos"/>
                <a:ea typeface="Aptos"/>
                <a:cs typeface="Aptos"/>
              </a:rPr>
              <a:t>Property development</a:t>
            </a:r>
          </a:p>
        </p:txBody>
      </p:sp>
      <p:sp>
        <p:nvSpPr>
          <p:cNvPr id="11" name="">
            <a:extLst xmlns:a="http://schemas.openxmlformats.org/drawingml/2006/main">
              <a:ext uri="{FF2B5EF4-FFF2-40B4-BE49-F238E27FC236}">
                <a16:creationId xmlns:a16="http://schemas.microsoft.com/office/drawing/2014/main" id="{D5C265CA-1329-4870-80D2-B11333E664D9}"/>
              </a:ext>
            </a:extLst>
          </p:cNvPr>
          <p:cNvSpPr>
            <a:spLocks xmlns:a="http://schemas.openxmlformats.org/drawingml/2006/main" noGrp="1"/>
          </p:cNvSpPr>
          <p:nvPr/>
        </p:nvSpPr>
        <p:spPr>
          <a:xfrm xmlns:a="http://schemas.openxmlformats.org/drawingml/2006/main">
            <a:off x="6210300" y="40957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0">
                <a:solidFill>
                  <a:srgbClr val="53616A"/>
                </a:solidFill>
                <a:latin typeface="Aptos"/>
                <a:ea typeface="Aptos"/>
                <a:cs typeface="Aptos"/>
              </a:defRPr>
            </a:pPr>
            <a:r>
              <a:rPr sz="1500" b="0" i="0">
                <a:solidFill>
                  <a:srgbClr val="53616A"/>
                </a:solidFill>
                <a:latin typeface="Aptos"/>
                <a:ea typeface="Aptos"/>
                <a:cs typeface="Aptos"/>
              </a:rPr>
              <a:t>Planning and coordination of real estate projects</a:t>
            </a:r>
          </a:p>
        </p:txBody>
      </p:sp>
      <p:sp>
        <p:nvSpPr>
          <p:cNvPr id="12" name="">
            <a:extLst xmlns:a="http://schemas.openxmlformats.org/drawingml/2006/main">
              <a:ext uri="{FF2B5EF4-FFF2-40B4-BE49-F238E27FC236}">
                <a16:creationId xmlns:a16="http://schemas.microsoft.com/office/drawing/2014/main" id="{B2EC1B5D-E0BB-46A7-999A-789519A9AFBC}"/>
              </a:ext>
            </a:extLst>
          </p:cNvPr>
          <p:cNvSpPr>
            <a:spLocks xmlns:a="http://schemas.openxmlformats.org/drawingml/2006/main" noGrp="1"/>
          </p:cNvSpPr>
          <p:nvPr/>
        </p:nvSpPr>
        <p:spPr>
          <a:xfrm xmlns:a="http://schemas.openxmlformats.org/drawingml/2006/main">
            <a:off x="685800" y="53816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317576"/>
                </a:solidFill>
                <a:latin typeface="Aptos"/>
                <a:ea typeface="Aptos"/>
                <a:cs typeface="Aptos"/>
              </a:defRPr>
            </a:pPr>
            <a:r>
              <a:rPr sz="1575" b="1" i="0">
                <a:solidFill>
                  <a:srgbClr val="317576"/>
                </a:solidFill>
                <a:latin typeface="Aptos"/>
                <a:ea typeface="Aptos"/>
                <a:cs typeface="Aptos"/>
              </a:rPr>
              <a:t>21 Oga Road, Abuja   Close to the Central Bank of Nigeria area</a:t>
            </a:r>
          </a:p>
        </p:txBody>
      </p:sp>
      <p:sp>
        <p:nvSpPr>
          <p:cNvPr id="13" name="">
            <a:extLst xmlns:a="http://schemas.openxmlformats.org/drawingml/2006/main">
              <a:ext uri="{FF2B5EF4-FFF2-40B4-BE49-F238E27FC236}">
                <a16:creationId xmlns:a16="http://schemas.microsoft.com/office/drawing/2014/main" id="{B07F3599-79ED-486A-ABF0-691DFD77208A}"/>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527700862"/>
      </p:ext>
    </p:extLst>
  </p:cSld>
</p:sld>
</file>

<file path=ppt/slides/slide4.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1C2C0F-F100-4B9F-9246-CC97D3317789}"/>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Training rotations</a:t>
            </a:r>
          </a:p>
        </p:txBody>
      </p:sp>
      <p:sp>
        <p:nvSpPr>
          <p:cNvPr id="2" name="">
            <a:extLst xmlns:a="http://schemas.openxmlformats.org/drawingml/2006/main">
              <a:ext uri="{FF2B5EF4-FFF2-40B4-BE49-F238E27FC236}">
                <a16:creationId xmlns:a16="http://schemas.microsoft.com/office/drawing/2014/main" id="{57F6701B-5F6B-4982-917D-39B68FDEFED4}"/>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79157600-4700-4F87-B101-C26B07165A03}"/>
              </a:ext>
            </a:extLst>
          </p:cNvPr>
          <p:cNvSpPr>
            <a:spLocks xmlns:a="http://schemas.openxmlformats.org/drawingml/2006/main" noGrp="1"/>
          </p:cNvSpPr>
          <p:nvPr/>
        </p:nvSpPr>
        <p:spPr>
          <a:xfrm xmlns:a="http://schemas.openxmlformats.org/drawingml/2006/main">
            <a:off x="685800" y="119062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i="0">
                <a:solidFill>
                  <a:srgbClr val="317576"/>
                </a:solidFill>
                <a:latin typeface="Aptos"/>
                <a:ea typeface="Aptos"/>
                <a:cs typeface="Aptos"/>
              </a:defRPr>
            </a:pPr>
            <a:r>
              <a:rPr sz="1950" b="1" i="0">
                <a:solidFill>
                  <a:srgbClr val="317576"/>
                </a:solidFill>
                <a:latin typeface="Aptos"/>
                <a:ea typeface="Aptos"/>
                <a:cs typeface="Aptos"/>
              </a:rPr>
              <a:t>Twenty weeks across three professional units</a:t>
            </a:r>
          </a:p>
        </p:txBody>
      </p:sp>
      <p:graphicFrame>
        <p:nvGraphicFramePr>
          <p:cNvPr id="12" name="Chart"/>
          <p:cNvGraphicFramePr/>
          <p:nvPr/>
        </p:nvGraphicFramePr>
        <p:xfrm>
          <a:off xmlns:a="http://schemas.openxmlformats.org/drawingml/2006/main" x="781050" y="1952625"/>
          <a:ext xmlns:a="http://schemas.openxmlformats.org/drawingml/2006/main" cx="7239000" cy="3476625"/>
        </p:xfrm>
        <a:graphic xmlns:a="http://schemas.openxmlformats.org/drawingml/2006/main">
          <a:graphicData uri="http://schemas.openxmlformats.org/drawingml/2006/chart">
            <c:chart xmlns:r="http://schemas.openxmlformats.org/officeDocument/2006/relationships" xmlns:c="http://schemas.openxmlformats.org/drawingml/2006/chart" r:id="R3dc6aaaa57c74c78"/>
          </a:graphicData>
        </a:graphic>
      </p:graphicFrame>
      <p:sp>
        <p:nvSpPr>
          <p:cNvPr id="5" name="">
            <a:extLst xmlns:a="http://schemas.openxmlformats.org/drawingml/2006/main">
              <a:ext uri="{FF2B5EF4-FFF2-40B4-BE49-F238E27FC236}">
                <a16:creationId xmlns:a16="http://schemas.microsoft.com/office/drawing/2014/main" id="{382413B2-21D8-474C-87C2-9770E38581A3}"/>
              </a:ext>
            </a:extLst>
          </p:cNvPr>
          <p:cNvSpPr>
            <a:spLocks xmlns:a="http://schemas.openxmlformats.org/drawingml/2006/main" noGrp="1"/>
          </p:cNvSpPr>
          <p:nvPr/>
        </p:nvSpPr>
        <p:spPr>
          <a:xfrm xmlns:a="http://schemas.openxmlformats.org/drawingml/2006/main">
            <a:off x="8858250" y="2333625"/>
            <a:ext cx="152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200" b="1" i="0">
                <a:solidFill>
                  <a:srgbClr val="C38A3B"/>
                </a:solidFill>
                <a:latin typeface="Aptos"/>
                <a:ea typeface="Aptos"/>
                <a:cs typeface="Aptos"/>
              </a:defRPr>
            </a:pPr>
            <a:r>
              <a:rPr sz="4200" b="1" i="0">
                <a:solidFill>
                  <a:srgbClr val="C38A3B"/>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1F405D42-F9AD-434D-AEB8-9E2A310A21CC}"/>
              </a:ext>
            </a:extLst>
          </p:cNvPr>
          <p:cNvSpPr>
            <a:spLocks xmlns:a="http://schemas.openxmlformats.org/drawingml/2006/main" noGrp="1"/>
          </p:cNvSpPr>
          <p:nvPr/>
        </p:nvSpPr>
        <p:spPr>
          <a:xfrm xmlns:a="http://schemas.openxmlformats.org/drawingml/2006/main">
            <a:off x="8572500" y="30480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i="0">
                <a:solidFill>
                  <a:srgbClr val="53616A"/>
                </a:solidFill>
                <a:latin typeface="Aptos"/>
                <a:ea typeface="Aptos"/>
                <a:cs typeface="Aptos"/>
              </a:defRPr>
            </a:pPr>
            <a:r>
              <a:rPr sz="1425" b="0" i="0">
                <a:solidFill>
                  <a:srgbClr val="53616A"/>
                </a:solidFill>
                <a:latin typeface="Aptos"/>
                <a:ea typeface="Aptos"/>
                <a:cs typeface="Aptos"/>
              </a:rPr>
              <a:t>weeks in the main rotation</a:t>
            </a:r>
          </a:p>
        </p:txBody>
      </p:sp>
      <p:sp>
        <p:nvSpPr>
          <p:cNvPr id="7" name="">
            <a:extLst xmlns:a="http://schemas.openxmlformats.org/drawingml/2006/main">
              <a:ext uri="{FF2B5EF4-FFF2-40B4-BE49-F238E27FC236}">
                <a16:creationId xmlns:a16="http://schemas.microsoft.com/office/drawing/2014/main" id="{FCA56723-00E4-4CF5-B454-33BA8DA0BC6B}"/>
              </a:ext>
            </a:extLst>
          </p:cNvPr>
          <p:cNvSpPr>
            <a:spLocks xmlns:a="http://schemas.openxmlformats.org/drawingml/2006/main" noGrp="1"/>
          </p:cNvSpPr>
          <p:nvPr/>
        </p:nvSpPr>
        <p:spPr>
          <a:xfrm xmlns:a="http://schemas.openxmlformats.org/drawingml/2006/main">
            <a:off x="8429625" y="4095750"/>
            <a:ext cx="266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17384E"/>
                </a:solidFill>
                <a:latin typeface="Aptos"/>
                <a:ea typeface="Aptos"/>
                <a:cs typeface="Aptos"/>
              </a:defRPr>
            </a:pPr>
            <a:r>
              <a:rPr sz="1650" b="1" i="0">
                <a:solidFill>
                  <a:srgbClr val="17384E"/>
                </a:solidFill>
                <a:latin typeface="Aptos"/>
                <a:ea typeface="Aptos"/>
                <a:cs typeface="Aptos"/>
              </a:rPr>
              <a:t>The sequence moved from continuing property responsibility to market work and then valuation analysis.</a:t>
            </a:r>
          </a:p>
        </p:txBody>
      </p:sp>
      <p:sp>
        <p:nvSpPr>
          <p:cNvPr id="8" name="">
            <a:extLst xmlns:a="http://schemas.openxmlformats.org/drawingml/2006/main">
              <a:ext uri="{FF2B5EF4-FFF2-40B4-BE49-F238E27FC236}">
                <a16:creationId xmlns:a16="http://schemas.microsoft.com/office/drawing/2014/main" id="{EFFDD868-9080-48A6-96F0-C493DDAC7452}"/>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2006029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C10EA5-4E01-4B3E-9755-51EB5BDC3CDA}"/>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Property and Facility Management</a:t>
            </a:r>
          </a:p>
        </p:txBody>
      </p:sp>
      <p:sp>
        <p:nvSpPr>
          <p:cNvPr id="2" name="">
            <a:extLst xmlns:a="http://schemas.openxmlformats.org/drawingml/2006/main">
              <a:ext uri="{FF2B5EF4-FFF2-40B4-BE49-F238E27FC236}">
                <a16:creationId xmlns:a16="http://schemas.microsoft.com/office/drawing/2014/main" id="{631470B0-EE34-404F-B37D-BF2BE92C03BA}"/>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05</a:t>
            </a:r>
          </a:p>
        </p:txBody>
      </p:sp>
      <p:sp>
        <p:nvSpPr>
          <p:cNvPr id="3" name="">
            <a:extLst xmlns:a="http://schemas.openxmlformats.org/drawingml/2006/main">
              <a:ext uri="{FF2B5EF4-FFF2-40B4-BE49-F238E27FC236}">
                <a16:creationId xmlns:a16="http://schemas.microsoft.com/office/drawing/2014/main" id="{5F203C8F-5A4C-4A24-8C37-7F78B6A31AF8}"/>
              </a:ext>
            </a:extLst>
          </p:cNvPr>
          <p:cNvSpPr>
            <a:spLocks xmlns:a="http://schemas.openxmlformats.org/drawingml/2006/main" noGrp="1"/>
          </p:cNvSpPr>
          <p:nvPr/>
        </p:nvSpPr>
        <p:spPr>
          <a:xfrm xmlns:a="http://schemas.openxmlformats.org/drawingml/2006/main">
            <a:off x="685800" y="1428750"/>
            <a:ext cx="1009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The property manager maintains an informed, continuing view of each asset.</a:t>
            </a:r>
          </a:p>
        </p:txBody>
      </p:sp>
      <p:sp>
        <p:nvSpPr>
          <p:cNvPr id="4" name="">
            <a:extLst xmlns:a="http://schemas.openxmlformats.org/drawingml/2006/main">
              <a:ext uri="{FF2B5EF4-FFF2-40B4-BE49-F238E27FC236}">
                <a16:creationId xmlns:a16="http://schemas.microsoft.com/office/drawing/2014/main" id="{E707741C-92D2-49A3-BAC3-C3D6294E96F3}"/>
              </a:ext>
            </a:extLst>
          </p:cNvPr>
          <p:cNvSpPr>
            <a:spLocks xmlns:a="http://schemas.openxmlformats.org/drawingml/2006/main" noGrp="1"/>
          </p:cNvSpPr>
          <p:nvPr/>
        </p:nvSpPr>
        <p:spPr>
          <a:xfrm xmlns:a="http://schemas.openxmlformats.org/drawingml/2006/main">
            <a:off x="685800" y="30003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INSPECT</a:t>
            </a:r>
          </a:p>
        </p:txBody>
      </p:sp>
      <p:sp>
        <p:nvSpPr>
          <p:cNvPr id="5" name="">
            <a:extLst xmlns:a="http://schemas.openxmlformats.org/drawingml/2006/main">
              <a:ext uri="{FF2B5EF4-FFF2-40B4-BE49-F238E27FC236}">
                <a16:creationId xmlns:a16="http://schemas.microsoft.com/office/drawing/2014/main" id="{FA81B9EA-A760-48EF-A619-9F14EBC5C430}"/>
              </a:ext>
            </a:extLst>
          </p:cNvPr>
          <p:cNvSpPr>
            <a:spLocks xmlns:a="http://schemas.openxmlformats.org/drawingml/2006/main" noGrp="1"/>
          </p:cNvSpPr>
          <p:nvPr/>
        </p:nvSpPr>
        <p:spPr>
          <a:xfrm xmlns:a="http://schemas.openxmlformats.org/drawingml/2006/main">
            <a:off x="685800" y="34004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Observe condition, occupation and visible defects</a:t>
            </a:r>
          </a:p>
        </p:txBody>
      </p:sp>
      <p:sp>
        <p:nvSpPr>
          <p:cNvPr id="6" name="">
            <a:extLst xmlns:a="http://schemas.openxmlformats.org/drawingml/2006/main">
              <a:ext uri="{FF2B5EF4-FFF2-40B4-BE49-F238E27FC236}">
                <a16:creationId xmlns:a16="http://schemas.microsoft.com/office/drawing/2014/main" id="{E0DD0A26-82B1-4244-A5A9-7C32B22510CB}"/>
              </a:ext>
            </a:extLst>
          </p:cNvPr>
          <p:cNvSpPr>
            <a:spLocks xmlns:a="http://schemas.openxmlformats.org/drawingml/2006/main" noGrp="1"/>
          </p:cNvSpPr>
          <p:nvPr/>
        </p:nvSpPr>
        <p:spPr>
          <a:xfrm xmlns:a="http://schemas.openxmlformats.org/drawingml/2006/main">
            <a:off x="6210300" y="30003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RECORD</a:t>
            </a:r>
          </a:p>
        </p:txBody>
      </p:sp>
      <p:sp>
        <p:nvSpPr>
          <p:cNvPr id="7" name="">
            <a:extLst xmlns:a="http://schemas.openxmlformats.org/drawingml/2006/main">
              <a:ext uri="{FF2B5EF4-FFF2-40B4-BE49-F238E27FC236}">
                <a16:creationId xmlns:a16="http://schemas.microsoft.com/office/drawing/2014/main" id="{4C224EF7-B428-45CF-B52E-EF407B7E742D}"/>
              </a:ext>
            </a:extLst>
          </p:cNvPr>
          <p:cNvSpPr>
            <a:spLocks xmlns:a="http://schemas.openxmlformats.org/drawingml/2006/main" noGrp="1"/>
          </p:cNvSpPr>
          <p:nvPr/>
        </p:nvSpPr>
        <p:spPr>
          <a:xfrm xmlns:a="http://schemas.openxmlformats.org/drawingml/2006/main">
            <a:off x="6210300" y="34004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Document maintenance and repair needs clearly</a:t>
            </a:r>
          </a:p>
        </p:txBody>
      </p:sp>
      <p:sp>
        <p:nvSpPr>
          <p:cNvPr id="8" name="">
            <a:extLst xmlns:a="http://schemas.openxmlformats.org/drawingml/2006/main">
              <a:ext uri="{FF2B5EF4-FFF2-40B4-BE49-F238E27FC236}">
                <a16:creationId xmlns:a16="http://schemas.microsoft.com/office/drawing/2014/main" id="{F07B51B4-CF70-4EE1-B3EC-6E8D28B33C3A}"/>
              </a:ext>
            </a:extLst>
          </p:cNvPr>
          <p:cNvSpPr>
            <a:spLocks xmlns:a="http://schemas.openxmlformats.org/drawingml/2006/main" noGrp="1"/>
          </p:cNvSpPr>
          <p:nvPr/>
        </p:nvSpPr>
        <p:spPr>
          <a:xfrm xmlns:a="http://schemas.openxmlformats.org/drawingml/2006/main">
            <a:off x="685800" y="43338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COMMUNICATE</a:t>
            </a:r>
          </a:p>
        </p:txBody>
      </p:sp>
      <p:sp>
        <p:nvSpPr>
          <p:cNvPr id="9" name="">
            <a:extLst xmlns:a="http://schemas.openxmlformats.org/drawingml/2006/main">
              <a:ext uri="{FF2B5EF4-FFF2-40B4-BE49-F238E27FC236}">
                <a16:creationId xmlns:a16="http://schemas.microsoft.com/office/drawing/2014/main" id="{89F5066D-6991-48ED-8DDA-1072DC08D40A}"/>
              </a:ext>
            </a:extLst>
          </p:cNvPr>
          <p:cNvSpPr>
            <a:spLocks xmlns:a="http://schemas.openxmlformats.org/drawingml/2006/main" noGrp="1"/>
          </p:cNvSpPr>
          <p:nvPr/>
        </p:nvSpPr>
        <p:spPr>
          <a:xfrm xmlns:a="http://schemas.openxmlformats.org/drawingml/2006/main">
            <a:off x="685800" y="47339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Report findings to the appropriate parties</a:t>
            </a:r>
          </a:p>
        </p:txBody>
      </p:sp>
      <p:sp>
        <p:nvSpPr>
          <p:cNvPr id="10" name="">
            <a:extLst xmlns:a="http://schemas.openxmlformats.org/drawingml/2006/main">
              <a:ext uri="{FF2B5EF4-FFF2-40B4-BE49-F238E27FC236}">
                <a16:creationId xmlns:a16="http://schemas.microsoft.com/office/drawing/2014/main" id="{5DD964B3-E817-4625-95E8-D45A73347E6B}"/>
              </a:ext>
            </a:extLst>
          </p:cNvPr>
          <p:cNvSpPr>
            <a:spLocks xmlns:a="http://schemas.openxmlformats.org/drawingml/2006/main" noGrp="1"/>
          </p:cNvSpPr>
          <p:nvPr/>
        </p:nvSpPr>
        <p:spPr>
          <a:xfrm xmlns:a="http://schemas.openxmlformats.org/drawingml/2006/main">
            <a:off x="6210300" y="43338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FOLLOW UP</a:t>
            </a:r>
          </a:p>
        </p:txBody>
      </p:sp>
      <p:sp>
        <p:nvSpPr>
          <p:cNvPr id="11" name="">
            <a:extLst xmlns:a="http://schemas.openxmlformats.org/drawingml/2006/main">
              <a:ext uri="{FF2B5EF4-FFF2-40B4-BE49-F238E27FC236}">
                <a16:creationId xmlns:a16="http://schemas.microsoft.com/office/drawing/2014/main" id="{AD73EFD2-A828-4EE1-AC4E-C977D21D1181}"/>
              </a:ext>
            </a:extLst>
          </p:cNvPr>
          <p:cNvSpPr>
            <a:spLocks xmlns:a="http://schemas.openxmlformats.org/drawingml/2006/main" noGrp="1"/>
          </p:cNvSpPr>
          <p:nvPr/>
        </p:nvSpPr>
        <p:spPr>
          <a:xfrm xmlns:a="http://schemas.openxmlformats.org/drawingml/2006/main">
            <a:off x="6210300" y="47339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i="0">
                <a:solidFill>
                  <a:srgbClr val="18232B"/>
                </a:solidFill>
                <a:latin typeface="Aptos"/>
                <a:ea typeface="Aptos"/>
                <a:cs typeface="Aptos"/>
              </a:defRPr>
            </a:pPr>
            <a:r>
              <a:rPr sz="1725" b="1" i="0">
                <a:solidFill>
                  <a:srgbClr val="18232B"/>
                </a:solidFill>
                <a:latin typeface="Aptos"/>
                <a:ea typeface="Aptos"/>
                <a:cs typeface="Aptos"/>
              </a:rPr>
              <a:t>Track action and arrange work according to urgency</a:t>
            </a:r>
          </a:p>
        </p:txBody>
      </p:sp>
      <p:sp>
        <p:nvSpPr>
          <p:cNvPr id="12" name="">
            <a:extLst xmlns:a="http://schemas.openxmlformats.org/drawingml/2006/main">
              <a:ext uri="{FF2B5EF4-FFF2-40B4-BE49-F238E27FC236}">
                <a16:creationId xmlns:a16="http://schemas.microsoft.com/office/drawing/2014/main" id="{9EF25EDC-AEB5-4D85-A835-11F7006FCCF3}"/>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810939118"/>
      </p:ext>
    </p:extLst>
  </p:cSld>
</p:sld>
</file>

<file path=ppt/slides/slide6.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7DE8ACF-3585-4F1F-8F5E-C88B5EA369F5}"/>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Estate Agency</a:t>
            </a:r>
          </a:p>
        </p:txBody>
      </p:sp>
      <p:sp>
        <p:nvSpPr>
          <p:cNvPr id="2" name="">
            <a:extLst xmlns:a="http://schemas.openxmlformats.org/drawingml/2006/main">
              <a:ext uri="{FF2B5EF4-FFF2-40B4-BE49-F238E27FC236}">
                <a16:creationId xmlns:a16="http://schemas.microsoft.com/office/drawing/2014/main" id="{74243E1C-77A7-4C6E-9C37-1F2CC885AE00}"/>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4BC2692D-02F9-416D-9A7E-871E79B2592F}"/>
              </a:ext>
            </a:extLst>
          </p:cNvPr>
          <p:cNvSpPr>
            <a:spLocks xmlns:a="http://schemas.openxmlformats.org/drawingml/2006/main" noGrp="1"/>
          </p:cNvSpPr>
          <p:nvPr/>
        </p:nvSpPr>
        <p:spPr>
          <a:xfrm xmlns:a="http://schemas.openxmlformats.org/drawingml/2006/main">
            <a:off x="685800" y="1381125"/>
            <a:ext cx="666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625" b="1" i="0">
                <a:solidFill>
                  <a:srgbClr val="17384E"/>
                </a:solidFill>
                <a:latin typeface="Aptos"/>
                <a:ea typeface="Aptos"/>
                <a:cs typeface="Aptos"/>
              </a:defRPr>
            </a:pPr>
            <a:r>
              <a:rPr sz="2625" b="1" i="0">
                <a:solidFill>
                  <a:srgbClr val="17384E"/>
                </a:solidFill>
                <a:latin typeface="Aptos"/>
                <a:ea typeface="Aptos"/>
                <a:cs typeface="Aptos"/>
              </a:rPr>
              <a:t>Agency work begins with an accurate understanding of the property and the client's objective.</a:t>
            </a:r>
          </a:p>
        </p:txBody>
      </p:sp>
      <p:sp>
        <p:nvSpPr>
          <p:cNvPr id="4" name="">
            <a:extLst xmlns:a="http://schemas.openxmlformats.org/drawingml/2006/main">
              <a:ext uri="{FF2B5EF4-FFF2-40B4-BE49-F238E27FC236}">
                <a16:creationId xmlns:a16="http://schemas.microsoft.com/office/drawing/2014/main" id="{210D204C-3479-4710-B388-BF3A8384F327}"/>
              </a:ext>
            </a:extLst>
          </p:cNvPr>
          <p:cNvSpPr>
            <a:spLocks xmlns:a="http://schemas.openxmlformats.org/drawingml/2006/main" noGrp="1"/>
          </p:cNvSpPr>
          <p:nvPr/>
        </p:nvSpPr>
        <p:spPr>
          <a:xfrm xmlns:a="http://schemas.openxmlformats.org/drawingml/2006/main">
            <a:off x="685800" y="3143250"/>
            <a:ext cx="10287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Sales and letting</a:t>
            </a:r>
          </a:p>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Rent collection</a:t>
            </a:r>
          </a:p>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Property inspection</a:t>
            </a:r>
          </a:p>
          <a:p xmlns:a="http://schemas.openxmlformats.org/drawingml/2006/main">
            <a:pPr marL="254000" indent="-127000">
              <a:spcAft>
                <a:spcPts val="1600"/>
              </a:spcAft>
              <a:buChar char="•"/>
              <a:defRPr sz="2250">
                <a:solidFill>
                  <a:srgbClr val="18232B"/>
                </a:solidFill>
                <a:latin typeface="Aptos"/>
                <a:ea typeface="Aptos"/>
                <a:cs typeface="Aptos"/>
              </a:defRPr>
            </a:pPr>
            <a:r>
              <a:rPr sz="2250">
                <a:solidFill>
                  <a:srgbClr val="18232B"/>
                </a:solidFill>
                <a:latin typeface="Aptos"/>
                <a:ea typeface="Aptos"/>
                <a:cs typeface="Aptos"/>
              </a:rPr>
              <a:t>Market survey and comparison</a:t>
            </a:r>
          </a:p>
        </p:txBody>
      </p:sp>
      <p:sp>
        <p:nvSpPr>
          <p:cNvPr id="5" name="">
            <a:extLst xmlns:a="http://schemas.openxmlformats.org/drawingml/2006/main">
              <a:ext uri="{FF2B5EF4-FFF2-40B4-BE49-F238E27FC236}">
                <a16:creationId xmlns:a16="http://schemas.microsoft.com/office/drawing/2014/main" id="{872C2A28-7120-456A-B4E3-B6867F2CC5BC}"/>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8564408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BB655B6-40CB-48A9-9FDF-AC5D3E6ABFC0}"/>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Valuation workflow</a:t>
            </a:r>
          </a:p>
        </p:txBody>
      </p:sp>
      <p:sp>
        <p:nvSpPr>
          <p:cNvPr id="2" name="">
            <a:extLst xmlns:a="http://schemas.openxmlformats.org/drawingml/2006/main">
              <a:ext uri="{FF2B5EF4-FFF2-40B4-BE49-F238E27FC236}">
                <a16:creationId xmlns:a16="http://schemas.microsoft.com/office/drawing/2014/main" id="{4DDD36F0-C50B-4733-BD12-6EBFDFD969BE}"/>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07</a:t>
            </a:r>
          </a:p>
        </p:txBody>
      </p:sp>
      <p:sp>
        <p:nvSpPr>
          <p:cNvPr id="3" name="">
            <a:extLst xmlns:a="http://schemas.openxmlformats.org/drawingml/2006/main">
              <a:ext uri="{FF2B5EF4-FFF2-40B4-BE49-F238E27FC236}">
                <a16:creationId xmlns:a16="http://schemas.microsoft.com/office/drawing/2014/main" id="{8D054AB7-5E32-4E2A-A98E-4E3913DE30B9}"/>
              </a:ext>
            </a:extLst>
          </p:cNvPr>
          <p:cNvSpPr>
            <a:spLocks xmlns:a="http://schemas.openxmlformats.org/drawingml/2006/main" noGrp="1"/>
          </p:cNvSpPr>
          <p:nvPr/>
        </p:nvSpPr>
        <p:spPr>
          <a:xfrm xmlns:a="http://schemas.openxmlformats.org/drawingml/2006/main">
            <a:off x="685800" y="11906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317576"/>
                </a:solidFill>
                <a:latin typeface="Aptos"/>
                <a:ea typeface="Aptos"/>
                <a:cs typeface="Aptos"/>
              </a:defRPr>
            </a:pPr>
            <a:r>
              <a:rPr sz="2025" b="1" i="0">
                <a:solidFill>
                  <a:srgbClr val="317576"/>
                </a:solidFill>
                <a:latin typeface="Aptos"/>
                <a:ea typeface="Aptos"/>
                <a:cs typeface="Aptos"/>
              </a:rPr>
              <a:t>A defined purpose guides the evidence, method and report</a:t>
            </a:r>
          </a:p>
        </p:txBody>
      </p:sp>
      <p:sp>
        <p:nvSpPr>
          <p:cNvPr id="4" name="">
            <a:extLst xmlns:a="http://schemas.openxmlformats.org/drawingml/2006/main">
              <a:ext uri="{FF2B5EF4-FFF2-40B4-BE49-F238E27FC236}">
                <a16:creationId xmlns:a16="http://schemas.microsoft.com/office/drawing/2014/main" id="{B2CE62DD-E6C3-4E23-A30E-294A7EA430BD}"/>
              </a:ext>
            </a:extLst>
          </p:cNvPr>
          <p:cNvSpPr>
            <a:spLocks xmlns:a="http://schemas.openxmlformats.org/drawingml/2006/main" noGrp="1"/>
          </p:cNvSpPr>
          <p:nvPr/>
        </p:nvSpPr>
        <p:spPr>
          <a:xfrm xmlns:a="http://schemas.openxmlformats.org/drawingml/2006/main">
            <a:off x="685800" y="2095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0F3D358E-C9D2-48BA-A834-2F10E31411BE}"/>
              </a:ext>
            </a:extLst>
          </p:cNvPr>
          <p:cNvSpPr>
            <a:spLocks xmlns:a="http://schemas.openxmlformats.org/drawingml/2006/main" noGrp="1"/>
          </p:cNvSpPr>
          <p:nvPr/>
        </p:nvSpPr>
        <p:spPr>
          <a:xfrm xmlns:a="http://schemas.openxmlformats.org/drawingml/2006/main">
            <a:off x="1428750" y="2057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Brief collection</a:t>
            </a:r>
          </a:p>
        </p:txBody>
      </p:sp>
      <p:sp>
        <p:nvSpPr>
          <p:cNvPr id="6" name="">
            <a:extLst xmlns:a="http://schemas.openxmlformats.org/drawingml/2006/main">
              <a:ext uri="{FF2B5EF4-FFF2-40B4-BE49-F238E27FC236}">
                <a16:creationId xmlns:a16="http://schemas.microsoft.com/office/drawing/2014/main" id="{6BDF1F3A-FA4D-4120-B5F7-74D37EFE8D93}"/>
              </a:ext>
            </a:extLst>
          </p:cNvPr>
          <p:cNvSpPr>
            <a:spLocks xmlns:a="http://schemas.openxmlformats.org/drawingml/2006/main" noGrp="1"/>
          </p:cNvSpPr>
          <p:nvPr/>
        </p:nvSpPr>
        <p:spPr>
          <a:xfrm xmlns:a="http://schemas.openxmlformats.org/drawingml/2006/main">
            <a:off x="1428750" y="2514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Understand the instruction and purpose</a:t>
            </a:r>
          </a:p>
        </p:txBody>
      </p:sp>
      <p:sp>
        <p:nvSpPr>
          <p:cNvPr id="7" name="">
            <a:extLst xmlns:a="http://schemas.openxmlformats.org/drawingml/2006/main">
              <a:ext uri="{FF2B5EF4-FFF2-40B4-BE49-F238E27FC236}">
                <a16:creationId xmlns:a16="http://schemas.microsoft.com/office/drawing/2014/main" id="{3551C14F-725F-4427-ABA1-6909E393E80E}"/>
              </a:ext>
            </a:extLst>
          </p:cNvPr>
          <p:cNvSpPr>
            <a:spLocks xmlns:a="http://schemas.openxmlformats.org/drawingml/2006/main" noGrp="1"/>
          </p:cNvSpPr>
          <p:nvPr/>
        </p:nvSpPr>
        <p:spPr>
          <a:xfrm xmlns:a="http://schemas.openxmlformats.org/drawingml/2006/main">
            <a:off x="685800" y="3238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B2E6F097-DEFC-4EF4-9CB5-8710FB253049}"/>
              </a:ext>
            </a:extLst>
          </p:cNvPr>
          <p:cNvSpPr>
            <a:spLocks xmlns:a="http://schemas.openxmlformats.org/drawingml/2006/main" noGrp="1"/>
          </p:cNvSpPr>
          <p:nvPr/>
        </p:nvSpPr>
        <p:spPr>
          <a:xfrm xmlns:a="http://schemas.openxmlformats.org/drawingml/2006/main">
            <a:off x="1428750" y="3200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Property inspection</a:t>
            </a:r>
          </a:p>
        </p:txBody>
      </p:sp>
      <p:sp>
        <p:nvSpPr>
          <p:cNvPr id="9" name="">
            <a:extLst xmlns:a="http://schemas.openxmlformats.org/drawingml/2006/main">
              <a:ext uri="{FF2B5EF4-FFF2-40B4-BE49-F238E27FC236}">
                <a16:creationId xmlns:a16="http://schemas.microsoft.com/office/drawing/2014/main" id="{4F73543D-A8CE-46B8-A7BE-32A3F2EF1B70}"/>
              </a:ext>
            </a:extLst>
          </p:cNvPr>
          <p:cNvSpPr>
            <a:spLocks xmlns:a="http://schemas.openxmlformats.org/drawingml/2006/main" noGrp="1"/>
          </p:cNvSpPr>
          <p:nvPr/>
        </p:nvSpPr>
        <p:spPr>
          <a:xfrm xmlns:a="http://schemas.openxmlformats.org/drawingml/2006/main">
            <a:off x="1428750" y="3657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Observe physical and locational details</a:t>
            </a:r>
          </a:p>
        </p:txBody>
      </p:sp>
      <p:sp>
        <p:nvSpPr>
          <p:cNvPr id="10" name="">
            <a:extLst xmlns:a="http://schemas.openxmlformats.org/drawingml/2006/main">
              <a:ext uri="{FF2B5EF4-FFF2-40B4-BE49-F238E27FC236}">
                <a16:creationId xmlns:a16="http://schemas.microsoft.com/office/drawing/2014/main" id="{85427359-32DE-4B45-A84A-196B4CA6DC5B}"/>
              </a:ext>
            </a:extLst>
          </p:cNvPr>
          <p:cNvSpPr>
            <a:spLocks xmlns:a="http://schemas.openxmlformats.org/drawingml/2006/main" noGrp="1"/>
          </p:cNvSpPr>
          <p:nvPr/>
        </p:nvSpPr>
        <p:spPr>
          <a:xfrm xmlns:a="http://schemas.openxmlformats.org/drawingml/2006/main">
            <a:off x="685800" y="4381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A6F2B940-C5E7-41AD-B84C-EA771C08FC28}"/>
              </a:ext>
            </a:extLst>
          </p:cNvPr>
          <p:cNvSpPr>
            <a:spLocks xmlns:a="http://schemas.openxmlformats.org/drawingml/2006/main" noGrp="1"/>
          </p:cNvSpPr>
          <p:nvPr/>
        </p:nvSpPr>
        <p:spPr>
          <a:xfrm xmlns:a="http://schemas.openxmlformats.org/drawingml/2006/main">
            <a:off x="1428750" y="4343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Market survey</a:t>
            </a:r>
          </a:p>
        </p:txBody>
      </p:sp>
      <p:sp>
        <p:nvSpPr>
          <p:cNvPr id="12" name="">
            <a:extLst xmlns:a="http://schemas.openxmlformats.org/drawingml/2006/main">
              <a:ext uri="{FF2B5EF4-FFF2-40B4-BE49-F238E27FC236}">
                <a16:creationId xmlns:a16="http://schemas.microsoft.com/office/drawing/2014/main" id="{1CC95342-40AF-4FA5-9D96-81E7F67D77D9}"/>
              </a:ext>
            </a:extLst>
          </p:cNvPr>
          <p:cNvSpPr>
            <a:spLocks xmlns:a="http://schemas.openxmlformats.org/drawingml/2006/main" noGrp="1"/>
          </p:cNvSpPr>
          <p:nvPr/>
        </p:nvSpPr>
        <p:spPr>
          <a:xfrm xmlns:a="http://schemas.openxmlformats.org/drawingml/2006/main">
            <a:off x="1428750" y="4800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Gather relevant comparable evidence</a:t>
            </a:r>
          </a:p>
        </p:txBody>
      </p:sp>
      <p:sp>
        <p:nvSpPr>
          <p:cNvPr id="13" name="">
            <a:extLst xmlns:a="http://schemas.openxmlformats.org/drawingml/2006/main">
              <a:ext uri="{FF2B5EF4-FFF2-40B4-BE49-F238E27FC236}">
                <a16:creationId xmlns:a16="http://schemas.microsoft.com/office/drawing/2014/main" id="{41879EB9-A5C4-444F-B9B2-6513230EF13D}"/>
              </a:ext>
            </a:extLst>
          </p:cNvPr>
          <p:cNvSpPr>
            <a:spLocks xmlns:a="http://schemas.openxmlformats.org/drawingml/2006/main" noGrp="1"/>
          </p:cNvSpPr>
          <p:nvPr/>
        </p:nvSpPr>
        <p:spPr>
          <a:xfrm xmlns:a="http://schemas.openxmlformats.org/drawingml/2006/main">
            <a:off x="6305550" y="2095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04</a:t>
            </a:r>
          </a:p>
        </p:txBody>
      </p:sp>
      <p:sp>
        <p:nvSpPr>
          <p:cNvPr id="14" name="">
            <a:extLst xmlns:a="http://schemas.openxmlformats.org/drawingml/2006/main">
              <a:ext uri="{FF2B5EF4-FFF2-40B4-BE49-F238E27FC236}">
                <a16:creationId xmlns:a16="http://schemas.microsoft.com/office/drawing/2014/main" id="{33BB5A69-A5B3-4C47-AAF4-C233DB382B3E}"/>
              </a:ext>
            </a:extLst>
          </p:cNvPr>
          <p:cNvSpPr>
            <a:spLocks xmlns:a="http://schemas.openxmlformats.org/drawingml/2006/main" noGrp="1"/>
          </p:cNvSpPr>
          <p:nvPr/>
        </p:nvSpPr>
        <p:spPr>
          <a:xfrm xmlns:a="http://schemas.openxmlformats.org/drawingml/2006/main">
            <a:off x="7048500" y="2057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Method selection</a:t>
            </a:r>
          </a:p>
        </p:txBody>
      </p:sp>
      <p:sp>
        <p:nvSpPr>
          <p:cNvPr id="15" name="">
            <a:extLst xmlns:a="http://schemas.openxmlformats.org/drawingml/2006/main">
              <a:ext uri="{FF2B5EF4-FFF2-40B4-BE49-F238E27FC236}">
                <a16:creationId xmlns:a16="http://schemas.microsoft.com/office/drawing/2014/main" id="{B8A91556-E3DB-4068-B645-E0C23E9045CF}"/>
              </a:ext>
            </a:extLst>
          </p:cNvPr>
          <p:cNvSpPr>
            <a:spLocks xmlns:a="http://schemas.openxmlformats.org/drawingml/2006/main" noGrp="1"/>
          </p:cNvSpPr>
          <p:nvPr/>
        </p:nvSpPr>
        <p:spPr>
          <a:xfrm xmlns:a="http://schemas.openxmlformats.org/drawingml/2006/main">
            <a:off x="7048500" y="2514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Choose an appropriate valuation approach</a:t>
            </a:r>
          </a:p>
        </p:txBody>
      </p:sp>
      <p:sp>
        <p:nvSpPr>
          <p:cNvPr id="16" name="">
            <a:extLst xmlns:a="http://schemas.openxmlformats.org/drawingml/2006/main">
              <a:ext uri="{FF2B5EF4-FFF2-40B4-BE49-F238E27FC236}">
                <a16:creationId xmlns:a16="http://schemas.microsoft.com/office/drawing/2014/main" id="{FE93EFC2-970A-421C-95D9-705BBA5FB881}"/>
              </a:ext>
            </a:extLst>
          </p:cNvPr>
          <p:cNvSpPr>
            <a:spLocks xmlns:a="http://schemas.openxmlformats.org/drawingml/2006/main" noGrp="1"/>
          </p:cNvSpPr>
          <p:nvPr/>
        </p:nvSpPr>
        <p:spPr>
          <a:xfrm xmlns:a="http://schemas.openxmlformats.org/drawingml/2006/main">
            <a:off x="6305550" y="3238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05</a:t>
            </a:r>
          </a:p>
        </p:txBody>
      </p:sp>
      <p:sp>
        <p:nvSpPr>
          <p:cNvPr id="17" name="">
            <a:extLst xmlns:a="http://schemas.openxmlformats.org/drawingml/2006/main">
              <a:ext uri="{FF2B5EF4-FFF2-40B4-BE49-F238E27FC236}">
                <a16:creationId xmlns:a16="http://schemas.microsoft.com/office/drawing/2014/main" id="{DFFE5CE4-2D08-403C-991D-0D8EF3D3573B}"/>
              </a:ext>
            </a:extLst>
          </p:cNvPr>
          <p:cNvSpPr>
            <a:spLocks xmlns:a="http://schemas.openxmlformats.org/drawingml/2006/main" noGrp="1"/>
          </p:cNvSpPr>
          <p:nvPr/>
        </p:nvSpPr>
        <p:spPr>
          <a:xfrm xmlns:a="http://schemas.openxmlformats.org/drawingml/2006/main">
            <a:off x="7048500" y="3200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Analysis</a:t>
            </a:r>
          </a:p>
        </p:txBody>
      </p:sp>
      <p:sp>
        <p:nvSpPr>
          <p:cNvPr id="18" name="">
            <a:extLst xmlns:a="http://schemas.openxmlformats.org/drawingml/2006/main">
              <a:ext uri="{FF2B5EF4-FFF2-40B4-BE49-F238E27FC236}">
                <a16:creationId xmlns:a16="http://schemas.microsoft.com/office/drawing/2014/main" id="{4DD0BE98-444A-4128-BAA5-7A156E2A2C1F}"/>
              </a:ext>
            </a:extLst>
          </p:cNvPr>
          <p:cNvSpPr>
            <a:spLocks xmlns:a="http://schemas.openxmlformats.org/drawingml/2006/main" noGrp="1"/>
          </p:cNvSpPr>
          <p:nvPr/>
        </p:nvSpPr>
        <p:spPr>
          <a:xfrm xmlns:a="http://schemas.openxmlformats.org/drawingml/2006/main">
            <a:off x="7048500" y="3657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Review evidence and apply judgement</a:t>
            </a:r>
          </a:p>
        </p:txBody>
      </p:sp>
      <p:sp>
        <p:nvSpPr>
          <p:cNvPr id="19" name="">
            <a:extLst xmlns:a="http://schemas.openxmlformats.org/drawingml/2006/main">
              <a:ext uri="{FF2B5EF4-FFF2-40B4-BE49-F238E27FC236}">
                <a16:creationId xmlns:a16="http://schemas.microsoft.com/office/drawing/2014/main" id="{8FF4B833-3AE9-4878-A92C-6C1367F29291}"/>
              </a:ext>
            </a:extLst>
          </p:cNvPr>
          <p:cNvSpPr>
            <a:spLocks xmlns:a="http://schemas.openxmlformats.org/drawingml/2006/main" noGrp="1"/>
          </p:cNvSpPr>
          <p:nvPr/>
        </p:nvSpPr>
        <p:spPr>
          <a:xfrm xmlns:a="http://schemas.openxmlformats.org/drawingml/2006/main">
            <a:off x="6305550" y="4381500"/>
            <a:ext cx="59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C38A3B"/>
                </a:solidFill>
                <a:latin typeface="Aptos"/>
                <a:ea typeface="Aptos"/>
                <a:cs typeface="Aptos"/>
              </a:defRPr>
            </a:pPr>
            <a:r>
              <a:rPr sz="1650" b="1" i="0">
                <a:solidFill>
                  <a:srgbClr val="C38A3B"/>
                </a:solidFill>
                <a:latin typeface="Aptos"/>
                <a:ea typeface="Aptos"/>
                <a:cs typeface="Aptos"/>
              </a:rPr>
              <a:t>06</a:t>
            </a:r>
          </a:p>
        </p:txBody>
      </p:sp>
      <p:sp>
        <p:nvSpPr>
          <p:cNvPr id="20" name="">
            <a:extLst xmlns:a="http://schemas.openxmlformats.org/drawingml/2006/main">
              <a:ext uri="{FF2B5EF4-FFF2-40B4-BE49-F238E27FC236}">
                <a16:creationId xmlns:a16="http://schemas.microsoft.com/office/drawing/2014/main" id="{2E3338CF-8596-4A94-BAD5-D9AC6E24D0B1}"/>
              </a:ext>
            </a:extLst>
          </p:cNvPr>
          <p:cNvSpPr>
            <a:spLocks xmlns:a="http://schemas.openxmlformats.org/drawingml/2006/main" noGrp="1"/>
          </p:cNvSpPr>
          <p:nvPr/>
        </p:nvSpPr>
        <p:spPr>
          <a:xfrm xmlns:a="http://schemas.openxmlformats.org/drawingml/2006/main">
            <a:off x="7048500" y="43434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Valuation report</a:t>
            </a:r>
          </a:p>
        </p:txBody>
      </p:sp>
      <p:sp>
        <p:nvSpPr>
          <p:cNvPr id="21" name="">
            <a:extLst xmlns:a="http://schemas.openxmlformats.org/drawingml/2006/main">
              <a:ext uri="{FF2B5EF4-FFF2-40B4-BE49-F238E27FC236}">
                <a16:creationId xmlns:a16="http://schemas.microsoft.com/office/drawing/2014/main" id="{17E58F5A-5C20-4EC1-A597-962E14D906D3}"/>
              </a:ext>
            </a:extLst>
          </p:cNvPr>
          <p:cNvSpPr>
            <a:spLocks xmlns:a="http://schemas.openxmlformats.org/drawingml/2006/main" noGrp="1"/>
          </p:cNvSpPr>
          <p:nvPr/>
        </p:nvSpPr>
        <p:spPr>
          <a:xfrm xmlns:a="http://schemas.openxmlformats.org/drawingml/2006/main">
            <a:off x="7048500" y="48006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i="0">
                <a:solidFill>
                  <a:srgbClr val="53616A"/>
                </a:solidFill>
                <a:latin typeface="Aptos"/>
                <a:ea typeface="Aptos"/>
                <a:cs typeface="Aptos"/>
              </a:defRPr>
            </a:pPr>
            <a:r>
              <a:rPr sz="1350" b="0" i="0">
                <a:solidFill>
                  <a:srgbClr val="53616A"/>
                </a:solidFill>
                <a:latin typeface="Aptos"/>
                <a:ea typeface="Aptos"/>
                <a:cs typeface="Aptos"/>
              </a:rPr>
              <a:t>Present the basis, analysis and conclusion</a:t>
            </a:r>
          </a:p>
        </p:txBody>
      </p:sp>
      <p:sp>
        <p:nvSpPr>
          <p:cNvPr id="22" name="">
            <a:extLst xmlns:a="http://schemas.openxmlformats.org/drawingml/2006/main">
              <a:ext uri="{FF2B5EF4-FFF2-40B4-BE49-F238E27FC236}">
                <a16:creationId xmlns:a16="http://schemas.microsoft.com/office/drawing/2014/main" id="{2969B786-8641-4A2E-947A-AF322B2B2315}"/>
              </a:ext>
            </a:extLst>
          </p:cNvPr>
          <p:cNvSpPr>
            <a:spLocks xmlns:a="http://schemas.openxmlformats.org/drawingml/2006/main" noGrp="1"/>
          </p:cNvSpPr>
          <p:nvPr/>
        </p:nvSpPr>
        <p:spPr>
          <a:xfrm xmlns:a="http://schemas.openxmlformats.org/drawingml/2006/main">
            <a:off x="685800" y="581025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1">
                <a:solidFill>
                  <a:srgbClr val="18232B"/>
                </a:solidFill>
                <a:latin typeface="Aptos"/>
                <a:ea typeface="Aptos"/>
                <a:cs typeface="Aptos"/>
              </a:defRPr>
            </a:pPr>
            <a:r>
              <a:rPr sz="1425" b="0" i="1">
                <a:solidFill>
                  <a:srgbClr val="18232B"/>
                </a:solidFill>
                <a:latin typeface="Aptos"/>
                <a:ea typeface="Aptos"/>
                <a:cs typeface="Aptos"/>
              </a:rPr>
              <a:t>Common purposes include sale, mortgage, acquisition and compensation.</a:t>
            </a:r>
          </a:p>
        </p:txBody>
      </p:sp>
      <p:sp>
        <p:nvSpPr>
          <p:cNvPr id="23" name="">
            <a:extLst xmlns:a="http://schemas.openxmlformats.org/drawingml/2006/main">
              <a:ext uri="{FF2B5EF4-FFF2-40B4-BE49-F238E27FC236}">
                <a16:creationId xmlns:a16="http://schemas.microsoft.com/office/drawing/2014/main" id="{63B28DF5-EE27-46A1-959C-F29531CE7E5A}"/>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166759226"/>
      </p:ext>
    </p:extLst>
  </p:cSld>
</p:sld>
</file>

<file path=ppt/slides/slide8.xml><?xml version="1.0" encoding="utf-8"?>
<p:sld xmlns:p="http://schemas.openxmlformats.org/presentationml/2006/main">
  <p:cSld>
    <p:bg>
      <p:bgPr>
        <a:solidFill xmlns:a="http://schemas.openxmlformats.org/drawingml/2006/main">
          <a:srgbClr val="17384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A77E51-1B30-4C70-8FBB-00F946F72D25}"/>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FFFFFF"/>
                </a:solidFill>
                <a:latin typeface="Aptos"/>
                <a:ea typeface="Aptos"/>
                <a:cs typeface="Aptos"/>
              </a:defRPr>
            </a:pPr>
            <a:r>
              <a:rPr sz="2850" b="1" i="0">
                <a:solidFill>
                  <a:srgbClr val="FFFFFF"/>
                </a:solidFill>
                <a:latin typeface="Aptos"/>
                <a:ea typeface="Aptos"/>
                <a:cs typeface="Aptos"/>
              </a:rPr>
              <a:t>Knowledge and skills acquired</a:t>
            </a:r>
          </a:p>
        </p:txBody>
      </p:sp>
      <p:sp>
        <p:nvSpPr>
          <p:cNvPr id="2" name="">
            <a:extLst xmlns:a="http://schemas.openxmlformats.org/drawingml/2006/main">
              <a:ext uri="{FF2B5EF4-FFF2-40B4-BE49-F238E27FC236}">
                <a16:creationId xmlns:a16="http://schemas.microsoft.com/office/drawing/2014/main" id="{A4E805DF-44D9-4C52-AF22-7F7DC21E3F45}"/>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D6E8ECCB-E655-463F-BEE1-1BDACE99FAA1}"/>
              </a:ext>
            </a:extLst>
          </p:cNvPr>
          <p:cNvSpPr>
            <a:spLocks xmlns:a="http://schemas.openxmlformats.org/drawingml/2006/main" noGrp="1"/>
          </p:cNvSpPr>
          <p:nvPr/>
        </p:nvSpPr>
        <p:spPr>
          <a:xfrm xmlns:a="http://schemas.openxmlformats.org/drawingml/2006/main">
            <a:off x="685800"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TECHNICAL</a:t>
            </a:r>
          </a:p>
        </p:txBody>
      </p:sp>
      <p:sp>
        <p:nvSpPr>
          <p:cNvPr id="4" name="">
            <a:extLst xmlns:a="http://schemas.openxmlformats.org/drawingml/2006/main">
              <a:ext uri="{FF2B5EF4-FFF2-40B4-BE49-F238E27FC236}">
                <a16:creationId xmlns:a16="http://schemas.microsoft.com/office/drawing/2014/main" id="{B21A1A10-2A0D-4EAF-A2B4-23BC111781EC}"/>
              </a:ext>
            </a:extLst>
          </p:cNvPr>
          <p:cNvSpPr>
            <a:spLocks xmlns:a="http://schemas.openxmlformats.org/drawingml/2006/main" noGrp="1"/>
          </p:cNvSpPr>
          <p:nvPr/>
        </p:nvSpPr>
        <p:spPr>
          <a:xfrm xmlns:a="http://schemas.openxmlformats.org/drawingml/2006/main">
            <a:off x="685800" y="204787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Property inspection</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Market survey</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Valuation process</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Professional reporting</a:t>
            </a:r>
          </a:p>
        </p:txBody>
      </p:sp>
      <p:sp>
        <p:nvSpPr>
          <p:cNvPr id="5" name="">
            <a:extLst xmlns:a="http://schemas.openxmlformats.org/drawingml/2006/main">
              <a:ext uri="{FF2B5EF4-FFF2-40B4-BE49-F238E27FC236}">
                <a16:creationId xmlns:a16="http://schemas.microsoft.com/office/drawing/2014/main" id="{9F908A5D-C959-40F7-95FF-343240586167}"/>
              </a:ext>
            </a:extLst>
          </p:cNvPr>
          <p:cNvSpPr>
            <a:spLocks xmlns:a="http://schemas.openxmlformats.org/drawingml/2006/main" noGrp="1"/>
          </p:cNvSpPr>
          <p:nvPr/>
        </p:nvSpPr>
        <p:spPr>
          <a:xfrm xmlns:a="http://schemas.openxmlformats.org/drawingml/2006/main">
            <a:off x="6524625" y="1476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C38A3B"/>
                </a:solidFill>
                <a:latin typeface="Aptos"/>
                <a:ea typeface="Aptos"/>
                <a:cs typeface="Aptos"/>
              </a:defRPr>
            </a:pPr>
            <a:r>
              <a:rPr sz="1275" b="1" i="0">
                <a:solidFill>
                  <a:srgbClr val="C38A3B"/>
                </a:solidFill>
                <a:latin typeface="Aptos"/>
                <a:ea typeface="Aptos"/>
                <a:cs typeface="Aptos"/>
              </a:rPr>
              <a:t>PROFESSIONAL</a:t>
            </a:r>
          </a:p>
        </p:txBody>
      </p:sp>
      <p:sp>
        <p:nvSpPr>
          <p:cNvPr id="6" name="">
            <a:extLst xmlns:a="http://schemas.openxmlformats.org/drawingml/2006/main">
              <a:ext uri="{FF2B5EF4-FFF2-40B4-BE49-F238E27FC236}">
                <a16:creationId xmlns:a16="http://schemas.microsoft.com/office/drawing/2014/main" id="{7BEF8026-7802-4146-B72C-FA3F12971955}"/>
              </a:ext>
            </a:extLst>
          </p:cNvPr>
          <p:cNvSpPr>
            <a:spLocks xmlns:a="http://schemas.openxmlformats.org/drawingml/2006/main" noGrp="1"/>
          </p:cNvSpPr>
          <p:nvPr/>
        </p:nvSpPr>
        <p:spPr>
          <a:xfrm xmlns:a="http://schemas.openxmlformats.org/drawingml/2006/main">
            <a:off x="6524625" y="2047875"/>
            <a:ext cx="4762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Communication</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Problem solving</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Time management</a:t>
            </a:r>
          </a:p>
          <a:p xmlns:a="http://schemas.openxmlformats.org/drawingml/2006/main">
            <a:pPr algn="l">
              <a:defRPr sz="2550" b="1" i="0">
                <a:solidFill>
                  <a:srgbClr val="FFFFFF"/>
                </a:solidFill>
                <a:latin typeface="Aptos"/>
                <a:ea typeface="Aptos"/>
                <a:cs typeface="Aptos"/>
              </a:defRPr>
            </a:pPr>
            <a:r>
              <a:rPr sz="2550" b="1" i="0">
                <a:solidFill>
                  <a:srgbClr val="FFFFFF"/>
                </a:solidFill>
                <a:latin typeface="Aptos"/>
                <a:ea typeface="Aptos"/>
                <a:cs typeface="Aptos"/>
              </a:rPr>
              <a:t>Responsible judgement</a:t>
            </a:r>
          </a:p>
        </p:txBody>
      </p:sp>
      <p:sp>
        <p:nvSpPr>
          <p:cNvPr id="7" name="">
            <a:extLst xmlns:a="http://schemas.openxmlformats.org/drawingml/2006/main">
              <a:ext uri="{FF2B5EF4-FFF2-40B4-BE49-F238E27FC236}">
                <a16:creationId xmlns:a16="http://schemas.microsoft.com/office/drawing/2014/main" id="{6C529EFD-3EC9-489F-9353-C0B6F25A0B2A}"/>
              </a:ext>
            </a:extLst>
          </p:cNvPr>
          <p:cNvSpPr>
            <a:spLocks xmlns:a="http://schemas.openxmlformats.org/drawingml/2006/main" noGrp="1"/>
          </p:cNvSpPr>
          <p:nvPr/>
        </p:nvSpPr>
        <p:spPr>
          <a:xfrm xmlns:a="http://schemas.openxmlformats.org/drawingml/2006/main">
            <a:off x="685800" y="5476875"/>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0" i="0">
                <a:solidFill>
                  <a:srgbClr val="E5ECEB"/>
                </a:solidFill>
                <a:latin typeface="Aptos"/>
                <a:ea typeface="Aptos"/>
                <a:cs typeface="Aptos"/>
              </a:defRPr>
            </a:pPr>
            <a:r>
              <a:rPr sz="1875" b="0" i="0">
                <a:solidFill>
                  <a:srgbClr val="E5ECEB"/>
                </a:solidFill>
                <a:latin typeface="Aptos"/>
                <a:ea typeface="Aptos"/>
                <a:cs typeface="Aptos"/>
              </a:rPr>
              <a:t>Theory provided the foundation. Field experience developed the judgement to apply it.</a:t>
            </a:r>
          </a:p>
        </p:txBody>
      </p:sp>
      <p:sp>
        <p:nvSpPr>
          <p:cNvPr id="8" name="">
            <a:extLst xmlns:a="http://schemas.openxmlformats.org/drawingml/2006/main">
              <a:ext uri="{FF2B5EF4-FFF2-40B4-BE49-F238E27FC236}">
                <a16:creationId xmlns:a16="http://schemas.microsoft.com/office/drawing/2014/main" id="{E371453F-C592-48BA-B652-C59823DE0895}"/>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E5ECEB"/>
                </a:solidFill>
                <a:latin typeface="Aptos"/>
                <a:ea typeface="Aptos"/>
                <a:cs typeface="Aptos"/>
              </a:defRPr>
            </a:pPr>
            <a:r>
              <a:rPr sz="750" b="1" i="0">
                <a:solidFill>
                  <a:srgbClr val="E5ECEB"/>
                </a:solidFill>
                <a:latin typeface="Aptos"/>
                <a:ea typeface="Aptos"/>
                <a:cs typeface="Aptos"/>
              </a:rPr>
              <a:t>MALIK DAMILOLA MISTURA   UNIVERSITY OF ABUJA</a:t>
            </a:r>
          </a:p>
        </p:txBody>
      </p:sp>
    </p:spTree>
    <p:extLst>
      <p:ext uri="{BB962C8B-B14F-4D97-AF65-F5344CB8AC3E}">
        <p14:creationId xmlns:p14="http://schemas.microsoft.com/office/powerpoint/2010/main" val="1815642420"/>
      </p:ext>
    </p:extLst>
  </p:cSld>
</p:sld>
</file>

<file path=ppt/slides/slide9.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3A99BF-0A84-4CD5-B912-F16F9E5DF603}"/>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Challenges and responses</a:t>
            </a:r>
          </a:p>
        </p:txBody>
      </p:sp>
      <p:sp>
        <p:nvSpPr>
          <p:cNvPr id="2" name="">
            <a:extLst xmlns:a="http://schemas.openxmlformats.org/drawingml/2006/main">
              <a:ext uri="{FF2B5EF4-FFF2-40B4-BE49-F238E27FC236}">
                <a16:creationId xmlns:a16="http://schemas.microsoft.com/office/drawing/2014/main" id="{4496503B-AAC7-4A99-835D-B1B48C4CE390}"/>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09</a:t>
            </a:r>
          </a:p>
        </p:txBody>
      </p:sp>
      <p:sp>
        <p:nvSpPr>
          <p:cNvPr id="3" name="">
            <a:extLst xmlns:a="http://schemas.openxmlformats.org/drawingml/2006/main">
              <a:ext uri="{FF2B5EF4-FFF2-40B4-BE49-F238E27FC236}">
                <a16:creationId xmlns:a16="http://schemas.microsoft.com/office/drawing/2014/main" id="{D84B84CF-4FC5-43D6-8428-A4FEA32EE38B}"/>
              </a:ext>
            </a:extLst>
          </p:cNvPr>
          <p:cNvSpPr>
            <a:spLocks xmlns:a="http://schemas.openxmlformats.org/drawingml/2006/main" noGrp="1"/>
          </p:cNvSpPr>
          <p:nvPr/>
        </p:nvSpPr>
        <p:spPr>
          <a:xfrm xmlns:a="http://schemas.openxmlformats.org/drawingml/2006/main">
            <a:off x="685800" y="157162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9D5148"/>
                </a:solidFill>
                <a:latin typeface="Aptos"/>
                <a:ea typeface="Aptos"/>
                <a:cs typeface="Aptos"/>
              </a:defRPr>
            </a:pPr>
            <a:r>
              <a:rPr sz="2025" b="1" i="0">
                <a:solidFill>
                  <a:srgbClr val="9D5148"/>
                </a:solidFill>
                <a:latin typeface="Aptos"/>
                <a:ea typeface="Aptos"/>
                <a:cs typeface="Aptos"/>
              </a:rPr>
              <a:t>Theory and field practice</a:t>
            </a:r>
          </a:p>
        </p:txBody>
      </p:sp>
      <p:sp>
        <p:nvSpPr>
          <p:cNvPr id="4" name="">
            <a:extLst xmlns:a="http://schemas.openxmlformats.org/drawingml/2006/main">
              <a:ext uri="{FF2B5EF4-FFF2-40B4-BE49-F238E27FC236}">
                <a16:creationId xmlns:a16="http://schemas.microsoft.com/office/drawing/2014/main" id="{EA8D2706-B224-47FE-9D2A-9A3F16842D6C}"/>
              </a:ext>
            </a:extLst>
          </p:cNvPr>
          <p:cNvSpPr>
            <a:spLocks xmlns:a="http://schemas.openxmlformats.org/drawingml/2006/main" noGrp="1"/>
          </p:cNvSpPr>
          <p:nvPr/>
        </p:nvSpPr>
        <p:spPr>
          <a:xfrm xmlns:a="http://schemas.openxmlformats.org/drawingml/2006/main">
            <a:off x="4429125" y="157162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17384E"/>
                </a:solidFill>
                <a:latin typeface="Aptos"/>
                <a:ea typeface="Aptos"/>
                <a:cs typeface="Aptos"/>
              </a:defRPr>
            </a:pPr>
            <a:r>
              <a:rPr sz="1875" b="0" i="0">
                <a:solidFill>
                  <a:srgbClr val="17384E"/>
                </a:solidFill>
                <a:latin typeface="Aptos"/>
                <a:ea typeface="Aptos"/>
                <a:cs typeface="Aptos"/>
              </a:rPr>
              <a:t>Asked for explanations and clarification</a:t>
            </a:r>
          </a:p>
        </p:txBody>
      </p:sp>
      <p:sp>
        <p:nvSpPr>
          <p:cNvPr id="5" name="">
            <a:extLst xmlns:a="http://schemas.openxmlformats.org/drawingml/2006/main">
              <a:ext uri="{FF2B5EF4-FFF2-40B4-BE49-F238E27FC236}">
                <a16:creationId xmlns:a16="http://schemas.microsoft.com/office/drawing/2014/main" id="{6B0FFFC7-6808-478E-B1F2-8957BC32C59E}"/>
              </a:ext>
            </a:extLst>
          </p:cNvPr>
          <p:cNvSpPr>
            <a:spLocks xmlns:a="http://schemas.openxmlformats.org/drawingml/2006/main" noGrp="1"/>
          </p:cNvSpPr>
          <p:nvPr/>
        </p:nvSpPr>
        <p:spPr>
          <a:xfrm xmlns:a="http://schemas.openxmlformats.org/drawingml/2006/main">
            <a:off x="685800" y="29527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9D5148"/>
                </a:solidFill>
                <a:latin typeface="Aptos"/>
                <a:ea typeface="Aptos"/>
                <a:cs typeface="Aptos"/>
              </a:defRPr>
            </a:pPr>
            <a:r>
              <a:rPr sz="2025" b="1" i="0">
                <a:solidFill>
                  <a:srgbClr val="9D5148"/>
                </a:solidFill>
                <a:latin typeface="Aptos"/>
                <a:ea typeface="Aptos"/>
                <a:cs typeface="Aptos"/>
              </a:rPr>
              <a:t>Transportation costs</a:t>
            </a:r>
          </a:p>
        </p:txBody>
      </p:sp>
      <p:sp>
        <p:nvSpPr>
          <p:cNvPr id="6" name="">
            <a:extLst xmlns:a="http://schemas.openxmlformats.org/drawingml/2006/main">
              <a:ext uri="{FF2B5EF4-FFF2-40B4-BE49-F238E27FC236}">
                <a16:creationId xmlns:a16="http://schemas.microsoft.com/office/drawing/2014/main" id="{5357404A-5D63-461D-9C0D-B419F33023F8}"/>
              </a:ext>
            </a:extLst>
          </p:cNvPr>
          <p:cNvSpPr>
            <a:spLocks xmlns:a="http://schemas.openxmlformats.org/drawingml/2006/main" noGrp="1"/>
          </p:cNvSpPr>
          <p:nvPr/>
        </p:nvSpPr>
        <p:spPr>
          <a:xfrm xmlns:a="http://schemas.openxmlformats.org/drawingml/2006/main">
            <a:off x="4429125" y="295275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17384E"/>
                </a:solidFill>
                <a:latin typeface="Aptos"/>
                <a:ea typeface="Aptos"/>
                <a:cs typeface="Aptos"/>
              </a:defRPr>
            </a:pPr>
            <a:r>
              <a:rPr sz="1875" b="0" i="0">
                <a:solidFill>
                  <a:srgbClr val="17384E"/>
                </a:solidFill>
                <a:latin typeface="Aptos"/>
                <a:ea typeface="Aptos"/>
                <a:cs typeface="Aptos"/>
              </a:rPr>
              <a:t>Planned movement and budget carefully</a:t>
            </a:r>
          </a:p>
        </p:txBody>
      </p:sp>
      <p:sp>
        <p:nvSpPr>
          <p:cNvPr id="7" name="">
            <a:extLst xmlns:a="http://schemas.openxmlformats.org/drawingml/2006/main">
              <a:ext uri="{FF2B5EF4-FFF2-40B4-BE49-F238E27FC236}">
                <a16:creationId xmlns:a16="http://schemas.microsoft.com/office/drawing/2014/main" id="{C8281465-C65C-4343-B35C-1B1C15EFCB9B}"/>
              </a:ext>
            </a:extLst>
          </p:cNvPr>
          <p:cNvSpPr>
            <a:spLocks xmlns:a="http://schemas.openxmlformats.org/drawingml/2006/main" noGrp="1"/>
          </p:cNvSpPr>
          <p:nvPr/>
        </p:nvSpPr>
        <p:spPr>
          <a:xfrm xmlns:a="http://schemas.openxmlformats.org/drawingml/2006/main">
            <a:off x="685800" y="4333875"/>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9D5148"/>
                </a:solidFill>
                <a:latin typeface="Aptos"/>
                <a:ea typeface="Aptos"/>
                <a:cs typeface="Aptos"/>
              </a:defRPr>
            </a:pPr>
            <a:r>
              <a:rPr sz="2025" b="1" i="0">
                <a:solidFill>
                  <a:srgbClr val="9D5148"/>
                </a:solidFill>
                <a:latin typeface="Aptos"/>
                <a:ea typeface="Aptos"/>
                <a:cs typeface="Aptos"/>
              </a:rPr>
              <a:t>Limited property information</a:t>
            </a:r>
          </a:p>
        </p:txBody>
      </p:sp>
      <p:sp>
        <p:nvSpPr>
          <p:cNvPr id="8" name="">
            <a:extLst xmlns:a="http://schemas.openxmlformats.org/drawingml/2006/main">
              <a:ext uri="{FF2B5EF4-FFF2-40B4-BE49-F238E27FC236}">
                <a16:creationId xmlns:a16="http://schemas.microsoft.com/office/drawing/2014/main" id="{8A958775-4220-4254-9DF2-1009B23B1A5B}"/>
              </a:ext>
            </a:extLst>
          </p:cNvPr>
          <p:cNvSpPr>
            <a:spLocks xmlns:a="http://schemas.openxmlformats.org/drawingml/2006/main" noGrp="1"/>
          </p:cNvSpPr>
          <p:nvPr/>
        </p:nvSpPr>
        <p:spPr>
          <a:xfrm xmlns:a="http://schemas.openxmlformats.org/drawingml/2006/main">
            <a:off x="4429125" y="4333875"/>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i="0">
                <a:solidFill>
                  <a:srgbClr val="17384E"/>
                </a:solidFill>
                <a:latin typeface="Aptos"/>
                <a:ea typeface="Aptos"/>
                <a:cs typeface="Aptos"/>
              </a:defRPr>
            </a:pPr>
            <a:r>
              <a:rPr sz="1875" b="0" i="0">
                <a:solidFill>
                  <a:srgbClr val="17384E"/>
                </a:solidFill>
                <a:latin typeface="Aptos"/>
                <a:ea typeface="Aptos"/>
                <a:cs typeface="Aptos"/>
              </a:rPr>
              <a:t>Used authorized sources and avoided unsupported assumptions</a:t>
            </a:r>
          </a:p>
        </p:txBody>
      </p:sp>
      <p:sp>
        <p:nvSpPr>
          <p:cNvPr id="9" name="">
            <a:extLst xmlns:a="http://schemas.openxmlformats.org/drawingml/2006/main">
              <a:ext uri="{FF2B5EF4-FFF2-40B4-BE49-F238E27FC236}">
                <a16:creationId xmlns:a16="http://schemas.microsoft.com/office/drawing/2014/main" id="{8B5E0E99-57E9-434F-ABAE-5E775C832B7D}"/>
              </a:ext>
            </a:extLst>
          </p:cNvPr>
          <p:cNvSpPr>
            <a:spLocks xmlns:a="http://schemas.openxmlformats.org/drawingml/2006/main" noGrp="1"/>
          </p:cNvSpPr>
          <p:nvPr/>
        </p:nvSpPr>
        <p:spPr>
          <a:xfrm xmlns:a="http://schemas.openxmlformats.org/drawingml/2006/main">
            <a:off x="685800" y="571500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317576"/>
                </a:solidFill>
                <a:latin typeface="Aptos"/>
                <a:ea typeface="Aptos"/>
                <a:cs typeface="Aptos"/>
              </a:defRPr>
            </a:pPr>
            <a:r>
              <a:rPr sz="1875" b="1" i="0">
                <a:solidFill>
                  <a:srgbClr val="317576"/>
                </a:solidFill>
                <a:latin typeface="Aptos"/>
                <a:ea typeface="Aptos"/>
                <a:cs typeface="Aptos"/>
              </a:rPr>
              <a:t>Accuracy and confidentiality remained essential</a:t>
            </a:r>
          </a:p>
        </p:txBody>
      </p:sp>
      <p:sp>
        <p:nvSpPr>
          <p:cNvPr id="10" name="">
            <a:extLst xmlns:a="http://schemas.openxmlformats.org/drawingml/2006/main">
              <a:ext uri="{FF2B5EF4-FFF2-40B4-BE49-F238E27FC236}">
                <a16:creationId xmlns:a16="http://schemas.microsoft.com/office/drawing/2014/main" id="{3A0ED3CB-C40D-478F-8AD3-E60A98227D23}"/>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2427723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26B1B96-880A-46B9-8813-841B85DA7C6B}"/>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Recommendations</a:t>
            </a:r>
          </a:p>
        </p:txBody>
      </p:sp>
      <p:sp>
        <p:nvSpPr>
          <p:cNvPr id="2" name="">
            <a:extLst xmlns:a="http://schemas.openxmlformats.org/drawingml/2006/main">
              <a:ext uri="{FF2B5EF4-FFF2-40B4-BE49-F238E27FC236}">
                <a16:creationId xmlns:a16="http://schemas.microsoft.com/office/drawing/2014/main" id="{F35E554E-1874-41BF-9D3A-89362C90F684}"/>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10</a:t>
            </a:r>
          </a:p>
        </p:txBody>
      </p:sp>
      <p:sp>
        <p:nvSpPr>
          <p:cNvPr id="3" name="">
            <a:extLst xmlns:a="http://schemas.openxmlformats.org/drawingml/2006/main">
              <a:ext uri="{FF2B5EF4-FFF2-40B4-BE49-F238E27FC236}">
                <a16:creationId xmlns:a16="http://schemas.microsoft.com/office/drawing/2014/main" id="{23CDA3A3-6581-46EE-9469-F4FABA82678F}"/>
              </a:ext>
            </a:extLst>
          </p:cNvPr>
          <p:cNvSpPr>
            <a:spLocks xmlns:a="http://schemas.openxmlformats.org/drawingml/2006/main" noGrp="1"/>
          </p:cNvSpPr>
          <p:nvPr/>
        </p:nvSpPr>
        <p:spPr>
          <a:xfrm xmlns:a="http://schemas.openxmlformats.org/drawingml/2006/main">
            <a:off x="685800" y="142875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01</a:t>
            </a:r>
          </a:p>
        </p:txBody>
      </p:sp>
      <p:sp>
        <p:nvSpPr>
          <p:cNvPr id="4" name="">
            <a:extLst xmlns:a="http://schemas.openxmlformats.org/drawingml/2006/main">
              <a:ext uri="{FF2B5EF4-FFF2-40B4-BE49-F238E27FC236}">
                <a16:creationId xmlns:a16="http://schemas.microsoft.com/office/drawing/2014/main" id="{0B56BBC6-18A8-4988-8282-D6724E0E88A0}"/>
              </a:ext>
            </a:extLst>
          </p:cNvPr>
          <p:cNvSpPr>
            <a:spLocks xmlns:a="http://schemas.openxmlformats.org/drawingml/2006/main" noGrp="1"/>
          </p:cNvSpPr>
          <p:nvPr/>
        </p:nvSpPr>
        <p:spPr>
          <a:xfrm xmlns:a="http://schemas.openxmlformats.org/drawingml/2006/main">
            <a:off x="1476375" y="13811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University</a:t>
            </a:r>
          </a:p>
        </p:txBody>
      </p:sp>
      <p:sp>
        <p:nvSpPr>
          <p:cNvPr id="5" name="">
            <a:extLst xmlns:a="http://schemas.openxmlformats.org/drawingml/2006/main">
              <a:ext uri="{FF2B5EF4-FFF2-40B4-BE49-F238E27FC236}">
                <a16:creationId xmlns:a16="http://schemas.microsoft.com/office/drawing/2014/main" id="{50A20A59-8BE0-4055-BC8C-3C5AD2784636}"/>
              </a:ext>
            </a:extLst>
          </p:cNvPr>
          <p:cNvSpPr>
            <a:spLocks xmlns:a="http://schemas.openxmlformats.org/drawingml/2006/main" noGrp="1"/>
          </p:cNvSpPr>
          <p:nvPr/>
        </p:nvSpPr>
        <p:spPr>
          <a:xfrm xmlns:a="http://schemas.openxmlformats.org/drawingml/2006/main">
            <a:off x="4762500" y="142875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Give clear pre-training guidance and support meaningful placements.</a:t>
            </a:r>
          </a:p>
        </p:txBody>
      </p:sp>
      <p:sp>
        <p:nvSpPr>
          <p:cNvPr id="6" name="">
            <a:extLst xmlns:a="http://schemas.openxmlformats.org/drawingml/2006/main">
              <a:ext uri="{FF2B5EF4-FFF2-40B4-BE49-F238E27FC236}">
                <a16:creationId xmlns:a16="http://schemas.microsoft.com/office/drawing/2014/main" id="{D1D04A31-53F9-4F35-8015-0F5B58D37E0D}"/>
              </a:ext>
            </a:extLst>
          </p:cNvPr>
          <p:cNvSpPr>
            <a:spLocks xmlns:a="http://schemas.openxmlformats.org/drawingml/2006/main" noGrp="1"/>
          </p:cNvSpPr>
          <p:nvPr/>
        </p:nvSpPr>
        <p:spPr>
          <a:xfrm xmlns:a="http://schemas.openxmlformats.org/drawingml/2006/main">
            <a:off x="685800" y="255270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8F9F747F-BF84-4005-AAF6-DF8D40DD69D3}"/>
              </a:ext>
            </a:extLst>
          </p:cNvPr>
          <p:cNvSpPr>
            <a:spLocks xmlns:a="http://schemas.openxmlformats.org/drawingml/2006/main" noGrp="1"/>
          </p:cNvSpPr>
          <p:nvPr/>
        </p:nvSpPr>
        <p:spPr>
          <a:xfrm xmlns:a="http://schemas.openxmlformats.org/drawingml/2006/main">
            <a:off x="1476375" y="25050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Training organizations</a:t>
            </a:r>
          </a:p>
        </p:txBody>
      </p:sp>
      <p:sp>
        <p:nvSpPr>
          <p:cNvPr id="8" name="">
            <a:extLst xmlns:a="http://schemas.openxmlformats.org/drawingml/2006/main">
              <a:ext uri="{FF2B5EF4-FFF2-40B4-BE49-F238E27FC236}">
                <a16:creationId xmlns:a16="http://schemas.microsoft.com/office/drawing/2014/main" id="{ADED37F5-FCF0-4163-9EF1-4DF5432BC72E}"/>
              </a:ext>
            </a:extLst>
          </p:cNvPr>
          <p:cNvSpPr>
            <a:spLocks xmlns:a="http://schemas.openxmlformats.org/drawingml/2006/main" noGrp="1"/>
          </p:cNvSpPr>
          <p:nvPr/>
        </p:nvSpPr>
        <p:spPr>
          <a:xfrm xmlns:a="http://schemas.openxmlformats.org/drawingml/2006/main">
            <a:off x="4762500" y="255270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Provide supervised practical exposure and regular feedback.</a:t>
            </a:r>
          </a:p>
        </p:txBody>
      </p:sp>
      <p:sp>
        <p:nvSpPr>
          <p:cNvPr id="9" name="">
            <a:extLst xmlns:a="http://schemas.openxmlformats.org/drawingml/2006/main">
              <a:ext uri="{FF2B5EF4-FFF2-40B4-BE49-F238E27FC236}">
                <a16:creationId xmlns:a16="http://schemas.microsoft.com/office/drawing/2014/main" id="{98027F4A-3F21-4DE0-BC70-8AC54E4BC93F}"/>
              </a:ext>
            </a:extLst>
          </p:cNvPr>
          <p:cNvSpPr>
            <a:spLocks xmlns:a="http://schemas.openxmlformats.org/drawingml/2006/main" noGrp="1"/>
          </p:cNvSpPr>
          <p:nvPr/>
        </p:nvSpPr>
        <p:spPr>
          <a:xfrm xmlns:a="http://schemas.openxmlformats.org/drawingml/2006/main">
            <a:off x="685800" y="367665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03</a:t>
            </a:r>
          </a:p>
        </p:txBody>
      </p:sp>
      <p:sp>
        <p:nvSpPr>
          <p:cNvPr id="10" name="">
            <a:extLst xmlns:a="http://schemas.openxmlformats.org/drawingml/2006/main">
              <a:ext uri="{FF2B5EF4-FFF2-40B4-BE49-F238E27FC236}">
                <a16:creationId xmlns:a16="http://schemas.microsoft.com/office/drawing/2014/main" id="{672B2485-C55F-4479-83BB-CF21481014E3}"/>
              </a:ext>
            </a:extLst>
          </p:cNvPr>
          <p:cNvSpPr>
            <a:spLocks xmlns:a="http://schemas.openxmlformats.org/drawingml/2006/main" noGrp="1"/>
          </p:cNvSpPr>
          <p:nvPr/>
        </p:nvSpPr>
        <p:spPr>
          <a:xfrm xmlns:a="http://schemas.openxmlformats.org/drawingml/2006/main">
            <a:off x="1476375" y="362902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Institutions</a:t>
            </a:r>
          </a:p>
        </p:txBody>
      </p:sp>
      <p:sp>
        <p:nvSpPr>
          <p:cNvPr id="11" name="">
            <a:extLst xmlns:a="http://schemas.openxmlformats.org/drawingml/2006/main">
              <a:ext uri="{FF2B5EF4-FFF2-40B4-BE49-F238E27FC236}">
                <a16:creationId xmlns:a16="http://schemas.microsoft.com/office/drawing/2014/main" id="{257C9711-D3C6-4622-90A8-7E49CC7D647F}"/>
              </a:ext>
            </a:extLst>
          </p:cNvPr>
          <p:cNvSpPr>
            <a:spLocks xmlns:a="http://schemas.openxmlformats.org/drawingml/2006/main" noGrp="1"/>
          </p:cNvSpPr>
          <p:nvPr/>
        </p:nvSpPr>
        <p:spPr>
          <a:xfrm xmlns:a="http://schemas.openxmlformats.org/drawingml/2006/main">
            <a:off x="4762500" y="367665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Consider a stipend or transport allowance for compulsory training.</a:t>
            </a:r>
          </a:p>
        </p:txBody>
      </p:sp>
      <p:sp>
        <p:nvSpPr>
          <p:cNvPr id="12" name="">
            <a:extLst xmlns:a="http://schemas.openxmlformats.org/drawingml/2006/main">
              <a:ext uri="{FF2B5EF4-FFF2-40B4-BE49-F238E27FC236}">
                <a16:creationId xmlns:a16="http://schemas.microsoft.com/office/drawing/2014/main" id="{F51D284F-F8CB-48C9-91CE-F9DB9917ED35}"/>
              </a:ext>
            </a:extLst>
          </p:cNvPr>
          <p:cNvSpPr>
            <a:spLocks xmlns:a="http://schemas.openxmlformats.org/drawingml/2006/main" noGrp="1"/>
          </p:cNvSpPr>
          <p:nvPr/>
        </p:nvSpPr>
        <p:spPr>
          <a:xfrm xmlns:a="http://schemas.openxmlformats.org/drawingml/2006/main">
            <a:off x="685800" y="4800600"/>
            <a:ext cx="609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C38A3B"/>
                </a:solidFill>
                <a:latin typeface="Aptos"/>
                <a:ea typeface="Aptos"/>
                <a:cs typeface="Aptos"/>
              </a:defRPr>
            </a:pPr>
            <a:r>
              <a:rPr sz="1575" b="1" i="0">
                <a:solidFill>
                  <a:srgbClr val="C38A3B"/>
                </a:solidFill>
                <a:latin typeface="Aptos"/>
                <a:ea typeface="Aptos"/>
                <a:cs typeface="Aptos"/>
              </a:rPr>
              <a:t>04</a:t>
            </a:r>
          </a:p>
        </p:txBody>
      </p:sp>
      <p:sp>
        <p:nvSpPr>
          <p:cNvPr id="13" name="">
            <a:extLst xmlns:a="http://schemas.openxmlformats.org/drawingml/2006/main">
              <a:ext uri="{FF2B5EF4-FFF2-40B4-BE49-F238E27FC236}">
                <a16:creationId xmlns:a16="http://schemas.microsoft.com/office/drawing/2014/main" id="{0D975D68-9394-4D46-AA14-0228EB73C700}"/>
              </a:ext>
            </a:extLst>
          </p:cNvPr>
          <p:cNvSpPr>
            <a:spLocks xmlns:a="http://schemas.openxmlformats.org/drawingml/2006/main" noGrp="1"/>
          </p:cNvSpPr>
          <p:nvPr/>
        </p:nvSpPr>
        <p:spPr>
          <a:xfrm xmlns:a="http://schemas.openxmlformats.org/drawingml/2006/main">
            <a:off x="1476375" y="4752975"/>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i="0">
                <a:solidFill>
                  <a:srgbClr val="17384E"/>
                </a:solidFill>
                <a:latin typeface="Aptos"/>
                <a:ea typeface="Aptos"/>
                <a:cs typeface="Aptos"/>
              </a:defRPr>
            </a:pPr>
            <a:r>
              <a:rPr sz="2025" b="1" i="0">
                <a:solidFill>
                  <a:srgbClr val="17384E"/>
                </a:solidFill>
                <a:latin typeface="Aptos"/>
                <a:ea typeface="Aptos"/>
                <a:cs typeface="Aptos"/>
              </a:rPr>
              <a:t>Future students</a:t>
            </a:r>
          </a:p>
        </p:txBody>
      </p:sp>
      <p:sp>
        <p:nvSpPr>
          <p:cNvPr id="14" name="">
            <a:extLst xmlns:a="http://schemas.openxmlformats.org/drawingml/2006/main">
              <a:ext uri="{FF2B5EF4-FFF2-40B4-BE49-F238E27FC236}">
                <a16:creationId xmlns:a16="http://schemas.microsoft.com/office/drawing/2014/main" id="{EDFC4162-E2E0-4ABC-834E-8210275A35C9}"/>
              </a:ext>
            </a:extLst>
          </p:cNvPr>
          <p:cNvSpPr>
            <a:spLocks xmlns:a="http://schemas.openxmlformats.org/drawingml/2006/main" noGrp="1"/>
          </p:cNvSpPr>
          <p:nvPr/>
        </p:nvSpPr>
        <p:spPr>
          <a:xfrm xmlns:a="http://schemas.openxmlformats.org/drawingml/2006/main">
            <a:off x="4762500" y="4800600"/>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i="0">
                <a:solidFill>
                  <a:srgbClr val="18232B"/>
                </a:solidFill>
                <a:latin typeface="Aptos"/>
                <a:ea typeface="Aptos"/>
                <a:cs typeface="Aptos"/>
              </a:defRPr>
            </a:pPr>
            <a:r>
              <a:rPr sz="1725" b="0" i="0">
                <a:solidFill>
                  <a:srgbClr val="18232B"/>
                </a:solidFill>
                <a:latin typeface="Aptos"/>
                <a:ea typeface="Aptos"/>
                <a:cs typeface="Aptos"/>
              </a:rPr>
              <a:t>Keep records, ask relevant questions and respect confidentiality.</a:t>
            </a:r>
          </a:p>
        </p:txBody>
      </p:sp>
      <p:sp>
        <p:nvSpPr>
          <p:cNvPr id="15" name="">
            <a:extLst xmlns:a="http://schemas.openxmlformats.org/drawingml/2006/main">
              <a:ext uri="{FF2B5EF4-FFF2-40B4-BE49-F238E27FC236}">
                <a16:creationId xmlns:a16="http://schemas.microsoft.com/office/drawing/2014/main" id="{0F714284-DB3F-44F2-87DE-3FA87C292D87}"/>
              </a:ext>
            </a:extLst>
          </p:cNvPr>
          <p:cNvSpPr>
            <a:spLocks xmlns:a="http://schemas.openxmlformats.org/drawingml/2006/main" noGrp="1"/>
          </p:cNvSpPr>
          <p:nvPr/>
        </p:nvSpPr>
        <p:spPr>
          <a:xfrm xmlns:a="http://schemas.openxmlformats.org/drawingml/2006/main">
            <a:off x="685800" y="59055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i="1">
                <a:solidFill>
                  <a:srgbClr val="317576"/>
                </a:solidFill>
                <a:latin typeface="Aptos"/>
                <a:ea typeface="Aptos"/>
                <a:cs typeface="Aptos"/>
              </a:defRPr>
            </a:pPr>
            <a:r>
              <a:rPr sz="1500" b="0" i="1">
                <a:solidFill>
                  <a:srgbClr val="317576"/>
                </a:solidFill>
                <a:latin typeface="Aptos"/>
                <a:ea typeface="Aptos"/>
                <a:cs typeface="Aptos"/>
              </a:rPr>
              <a:t>These recommendations focus on stronger preparation, supervision and access to practical learning.</a:t>
            </a:r>
          </a:p>
        </p:txBody>
      </p:sp>
      <p:sp>
        <p:nvSpPr>
          <p:cNvPr id="16" name="">
            <a:extLst xmlns:a="http://schemas.openxmlformats.org/drawingml/2006/main">
              <a:ext uri="{FF2B5EF4-FFF2-40B4-BE49-F238E27FC236}">
                <a16:creationId xmlns:a16="http://schemas.microsoft.com/office/drawing/2014/main" id="{22FC32B1-A8FF-4D17-BC03-430ECCB318D6}"/>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65061847"/>
      </p:ext>
    </p:extLst>
  </p:cSld>
</p:sld>
</file>

<file path=ppt/slides/slide11.xml><?xml version="1.0" encoding="utf-8"?>
<p:sld xmlns:p="http://schemas.openxmlformats.org/presentationml/2006/main">
  <p:cSld>
    <p:bg>
      <p:bgPr>
        <a:solidFill xmlns:a="http://schemas.openxmlformats.org/drawingml/2006/main">
          <a:srgbClr val="F5F1E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A52A30-467C-48B2-ACE9-9DD009DED0AD}"/>
              </a:ext>
            </a:extLst>
          </p:cNvPr>
          <p:cNvSpPr>
            <a:spLocks xmlns:a="http://schemas.openxmlformats.org/drawingml/2006/main" noGrp="1"/>
          </p:cNvSpPr>
          <p:nvPr/>
        </p:nvSpPr>
        <p:spPr>
          <a:xfrm xmlns:a="http://schemas.openxmlformats.org/drawingml/2006/main">
            <a:off x="685800" y="457200"/>
            <a:ext cx="990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384E"/>
                </a:solidFill>
                <a:latin typeface="Aptos"/>
                <a:ea typeface="Aptos"/>
                <a:cs typeface="Aptos"/>
              </a:defRPr>
            </a:pPr>
            <a:r>
              <a:rPr sz="2850" b="1" i="0">
                <a:solidFill>
                  <a:srgbClr val="17384E"/>
                </a:solidFill>
                <a:latin typeface="Aptos"/>
                <a:ea typeface="Aptos"/>
                <a:cs typeface="Aptos"/>
              </a:rPr>
              <a:t>Conclusion</a:t>
            </a:r>
          </a:p>
        </p:txBody>
      </p:sp>
      <p:sp>
        <p:nvSpPr>
          <p:cNvPr id="2" name="">
            <a:extLst xmlns:a="http://schemas.openxmlformats.org/drawingml/2006/main">
              <a:ext uri="{FF2B5EF4-FFF2-40B4-BE49-F238E27FC236}">
                <a16:creationId xmlns:a16="http://schemas.microsoft.com/office/drawing/2014/main" id="{7BFADA5D-DC32-46AF-82C6-5A80EDBCA1A7}"/>
              </a:ext>
            </a:extLst>
          </p:cNvPr>
          <p:cNvSpPr>
            <a:spLocks xmlns:a="http://schemas.openxmlformats.org/drawingml/2006/main" noGrp="1"/>
          </p:cNvSpPr>
          <p:nvPr/>
        </p:nvSpPr>
        <p:spPr>
          <a:xfrm xmlns:a="http://schemas.openxmlformats.org/drawingml/2006/main">
            <a:off x="10877550" y="476250"/>
            <a:ext cx="66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350" b="1" i="0">
                <a:solidFill>
                  <a:srgbClr val="C38A3B"/>
                </a:solidFill>
                <a:latin typeface="Aptos"/>
                <a:ea typeface="Aptos"/>
                <a:cs typeface="Aptos"/>
              </a:defRPr>
            </a:pPr>
            <a:r>
              <a:rPr sz="1350" b="1" i="0">
                <a:solidFill>
                  <a:srgbClr val="C38A3B"/>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79B20ABB-BAA1-4412-8473-4E6BC707DC40}"/>
              </a:ext>
            </a:extLst>
          </p:cNvPr>
          <p:cNvSpPr>
            <a:spLocks xmlns:a="http://schemas.openxmlformats.org/drawingml/2006/main" noGrp="1"/>
          </p:cNvSpPr>
          <p:nvPr/>
        </p:nvSpPr>
        <p:spPr>
          <a:xfrm xmlns:a="http://schemas.openxmlformats.org/drawingml/2006/main">
            <a:off x="1095375" y="16192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150" b="1" i="0">
                <a:solidFill>
                  <a:srgbClr val="17384E"/>
                </a:solidFill>
                <a:latin typeface="Aptos"/>
                <a:ea typeface="Aptos"/>
                <a:cs typeface="Aptos"/>
              </a:defRPr>
            </a:pPr>
            <a:r>
              <a:rPr sz="3150" b="1" i="0">
                <a:solidFill>
                  <a:srgbClr val="17384E"/>
                </a:solidFill>
                <a:latin typeface="Aptos"/>
                <a:ea typeface="Aptos"/>
                <a:cs typeface="Aptos"/>
              </a:rPr>
              <a:t>The training broadened my understanding of Estate Management and increased my confidence in professional practice.</a:t>
            </a:r>
          </a:p>
        </p:txBody>
      </p:sp>
      <p:sp>
        <p:nvSpPr>
          <p:cNvPr id="4" name="">
            <a:extLst xmlns:a="http://schemas.openxmlformats.org/drawingml/2006/main">
              <a:ext uri="{FF2B5EF4-FFF2-40B4-BE49-F238E27FC236}">
                <a16:creationId xmlns:a16="http://schemas.microsoft.com/office/drawing/2014/main" id="{93283D17-13EF-4DED-BFF3-7704C557B82A}"/>
              </a:ext>
            </a:extLst>
          </p:cNvPr>
          <p:cNvSpPr>
            <a:spLocks xmlns:a="http://schemas.openxmlformats.org/drawingml/2006/main" noGrp="1"/>
          </p:cNvSpPr>
          <p:nvPr/>
        </p:nvSpPr>
        <p:spPr>
          <a:xfrm xmlns:a="http://schemas.openxmlformats.org/drawingml/2006/main">
            <a:off x="1809750" y="3524250"/>
            <a:ext cx="857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0" i="0">
                <a:solidFill>
                  <a:srgbClr val="53616A"/>
                </a:solidFill>
                <a:latin typeface="Aptos"/>
                <a:ea typeface="Aptos"/>
                <a:cs typeface="Aptos"/>
              </a:defRPr>
            </a:pPr>
            <a:r>
              <a:rPr sz="1800" b="0" i="0">
                <a:solidFill>
                  <a:srgbClr val="53616A"/>
                </a:solidFill>
                <a:latin typeface="Aptos"/>
                <a:ea typeface="Aptos"/>
                <a:cs typeface="Aptos"/>
              </a:rPr>
              <a:t>I gained practical exposure to property and facility management, estate agency and valuation. I did not rotate through Property Development following the demise of ESV Lanre Hassan.</a:t>
            </a:r>
          </a:p>
        </p:txBody>
      </p:sp>
      <p:sp>
        <p:nvSpPr>
          <p:cNvPr id="5" name="">
            <a:extLst xmlns:a="http://schemas.openxmlformats.org/drawingml/2006/main">
              <a:ext uri="{FF2B5EF4-FFF2-40B4-BE49-F238E27FC236}">
                <a16:creationId xmlns:a16="http://schemas.microsoft.com/office/drawing/2014/main" id="{52E0CF5E-8244-48D2-AC96-DB61842481BB}"/>
              </a:ext>
            </a:extLst>
          </p:cNvPr>
          <p:cNvSpPr>
            <a:spLocks xmlns:a="http://schemas.openxmlformats.org/drawingml/2006/main" noGrp="1"/>
          </p:cNvSpPr>
          <p:nvPr/>
        </p:nvSpPr>
        <p:spPr>
          <a:xfrm xmlns:a="http://schemas.openxmlformats.org/drawingml/2006/main">
            <a:off x="3714750" y="51911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25" b="1" i="0">
                <a:solidFill>
                  <a:srgbClr val="317576"/>
                </a:solidFill>
                <a:latin typeface="Aptos"/>
                <a:ea typeface="Aptos"/>
                <a:cs typeface="Aptos"/>
              </a:defRPr>
            </a:pPr>
            <a:r>
              <a:rPr sz="2625" b="1" i="0">
                <a:solidFill>
                  <a:srgbClr val="317576"/>
                </a:solidFill>
                <a:latin typeface="Aptos"/>
                <a:ea typeface="Aptos"/>
                <a:cs typeface="Aptos"/>
              </a:rPr>
              <a:t>Thank you</a:t>
            </a:r>
          </a:p>
        </p:txBody>
      </p:sp>
      <p:sp>
        <p:nvSpPr>
          <p:cNvPr id="6" name="">
            <a:extLst xmlns:a="http://schemas.openxmlformats.org/drawingml/2006/main">
              <a:ext uri="{FF2B5EF4-FFF2-40B4-BE49-F238E27FC236}">
                <a16:creationId xmlns:a16="http://schemas.microsoft.com/office/drawing/2014/main" id="{EB0FB72E-6090-489C-BEA1-73C96409A3C5}"/>
              </a:ext>
            </a:extLst>
          </p:cNvPr>
          <p:cNvSpPr>
            <a:spLocks xmlns:a="http://schemas.openxmlformats.org/drawingml/2006/main" noGrp="1"/>
          </p:cNvSpPr>
          <p:nvPr/>
        </p:nvSpPr>
        <p:spPr>
          <a:xfrm xmlns:a="http://schemas.openxmlformats.org/drawingml/2006/main">
            <a:off x="3714750" y="58102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i="0">
                <a:solidFill>
                  <a:srgbClr val="18232B"/>
                </a:solidFill>
                <a:latin typeface="Aptos"/>
                <a:ea typeface="Aptos"/>
                <a:cs typeface="Aptos"/>
              </a:defRPr>
            </a:pPr>
            <a:r>
              <a:rPr sz="1425" b="0" i="0">
                <a:solidFill>
                  <a:srgbClr val="18232B"/>
                </a:solidFill>
                <a:latin typeface="Aptos"/>
                <a:ea typeface="Aptos"/>
                <a:cs typeface="Aptos"/>
              </a:rPr>
              <a:t>Questions and discussion</a:t>
            </a:r>
          </a:p>
        </p:txBody>
      </p:sp>
      <p:sp>
        <p:nvSpPr>
          <p:cNvPr id="7" name="">
            <a:extLst xmlns:a="http://schemas.openxmlformats.org/drawingml/2006/main">
              <a:ext uri="{FF2B5EF4-FFF2-40B4-BE49-F238E27FC236}">
                <a16:creationId xmlns:a16="http://schemas.microsoft.com/office/drawing/2014/main" id="{AD80DFA2-F2DB-4A20-A992-41C34984EE4A}"/>
              </a:ext>
            </a:extLst>
          </p:cNvPr>
          <p:cNvSpPr>
            <a:spLocks xmlns:a="http://schemas.openxmlformats.org/drawingml/2006/main" noGrp="1"/>
          </p:cNvSpPr>
          <p:nvPr/>
        </p:nvSpPr>
        <p:spPr>
          <a:xfrm xmlns:a="http://schemas.openxmlformats.org/drawingml/2006/main">
            <a:off x="685800" y="640080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 b="1" i="0">
                <a:solidFill>
                  <a:srgbClr val="53616A"/>
                </a:solidFill>
                <a:latin typeface="Aptos"/>
                <a:ea typeface="Aptos"/>
                <a:cs typeface="Aptos"/>
              </a:defRPr>
            </a:pPr>
            <a:r>
              <a:rPr sz="750" b="1" i="0">
                <a:solidFill>
                  <a:srgbClr val="53616A"/>
                </a:solidFill>
                <a:latin typeface="Aptos"/>
                <a:ea typeface="Aptos"/>
                <a:cs typeface="Aptos"/>
              </a:rPr>
              <a:t>MALIK DAMILOLA MISTURA   UNIVERSITY OF ABUJA</a:t>
            </a:r>
          </a:p>
        </p:txBody>
      </p:sp>
    </p:spTree>
    <p:extLst>
      <p:ext uri="{BB962C8B-B14F-4D97-AF65-F5344CB8AC3E}">
        <p14:creationId xmlns:p14="http://schemas.microsoft.com/office/powerpoint/2010/main" val="15982913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2026-09-14T09:04:59.4730000Z</dcterms:created>
  <dcterms:modified xsi:type="dcterms:W3CDTF">2026-09-14T09:04:59.4730000Z</dcterms:modified>
</coreProperties>
</file>